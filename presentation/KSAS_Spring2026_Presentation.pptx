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10"/>
    <p:sldId id="257" r:id="rId11"/>
    <p:sldId id="258" r:id="rId12"/>
    <p:sldId id="259" r:id="rId13"/>
    <p:sldId id="260" r:id="rId14"/>
    <p:sldId id="261" r:id="rId15"/>
    <p:sldId id="262" r:id="rId9"/>
    <p:sldId id="263" r:id="rId8"/>
    <p:sldId id="264" r:id="rId7"/>
    <p:sldId id="265" r:id="rId6"/>
    <p:sldId id="266" r:id="rId20"/>
    <p:sldId id="267" r:id="rId21"/>
  </p:sldIdLst>
  <p:sldSz cx="18288000" cy="10287000"/>
  <p:notesSz cx="6858000" cy="9144000"/>
  <p:embeddedFontLst>
    <p:embeddedFont>
      <p:font typeface="각진펜 Bold" charset="1" panose="020B0500000000000000"/>
      <p:regular r:id="rId16"/>
    </p:embeddedFont>
    <p:embeddedFont>
      <p:font typeface="Gotham Bold" charset="1" panose="00000000000000000000"/>
      <p:regular r:id="rId17"/>
    </p:embeddedFont>
    <p:embeddedFont>
      <p:font typeface="Nanum Square" charset="1" panose="020B0600000101010101"/>
      <p:regular r:id="rId18"/>
    </p:embeddedFont>
    <p:embeddedFont>
      <p:font typeface="Gotham" charset="1" panose="00000000000000000000"/>
      <p:regular r:id="rId19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esProps" Target="presProps.xml"/><Relationship Id="rId3" Type="http://schemas.openxmlformats.org/officeDocument/2006/relationships/viewProps" Target="viewProps.xml"/><Relationship Id="rId4" Type="http://schemas.openxmlformats.org/officeDocument/2006/relationships/theme" Target="theme/theme1.xml"/><Relationship Id="rId5" Type="http://schemas.openxmlformats.org/officeDocument/2006/relationships/tableStyles" Target="tableStyles.xml"/><Relationship Id="rId6" Type="http://schemas.openxmlformats.org/officeDocument/2006/relationships/slide" Target="slides/slide10.xml"/><Relationship Id="rId7" Type="http://schemas.openxmlformats.org/officeDocument/2006/relationships/slide" Target="slides/slide9.xml"/><Relationship Id="rId8" Type="http://schemas.openxmlformats.org/officeDocument/2006/relationships/slide" Target="slides/slide8.xml"/><Relationship Id="rId9" Type="http://schemas.openxmlformats.org/officeDocument/2006/relationships/slide" Target="slides/slide7.xml"/><Relationship Id="rId10" Type="http://schemas.openxmlformats.org/officeDocument/2006/relationships/slide" Target="slides/slide1.xml"/><Relationship Id="rId11" Type="http://schemas.openxmlformats.org/officeDocument/2006/relationships/slide" Target="slides/slide2.xml"/><Relationship Id="rId12" Type="http://schemas.openxmlformats.org/officeDocument/2006/relationships/slide" Target="slides/slide3.xml"/><Relationship Id="rId13" Type="http://schemas.openxmlformats.org/officeDocument/2006/relationships/slide" Target="slides/slide4.xml"/><Relationship Id="rId14" Type="http://schemas.openxmlformats.org/officeDocument/2006/relationships/slide" Target="slides/slide5.xml"/><Relationship Id="rId15" Type="http://schemas.openxmlformats.org/officeDocument/2006/relationships/slide" Target="slides/slide6.xml"/><Relationship Id="rId16" Type="http://schemas.openxmlformats.org/officeDocument/2006/relationships/font" Target="fonts/font16.fntdata"/><Relationship Id="rId17" Type="http://schemas.openxmlformats.org/officeDocument/2006/relationships/font" Target="fonts/font17.fntdata"/><Relationship Id="rId18" Type="http://schemas.openxmlformats.org/officeDocument/2006/relationships/font" Target="fonts/font18.fntdata"/><Relationship Id="rId19" Type="http://schemas.openxmlformats.org/officeDocument/2006/relationships/font" Target="fonts/font19.fntdata"/><Relationship Id="rId20" Type="http://schemas.openxmlformats.org/officeDocument/2006/relationships/slide" Target="slides/slide11.xml"/><Relationship Id="rId21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CDCD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04672" y="758952"/>
            <a:ext cx="16669512" cy="86319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28800" y="1097280"/>
            <a:ext cx="14630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>
                <a:solidFill>
                  <a:srgbClr val="004AAD"/>
                </a:solidFill>
                <a:latin typeface="Nanum Square"/>
              </a:defRPr>
            </a:pPr>
            <a:r>
              <a:t>PHYSICALLY CLOSED-LOOP HILS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1828800"/>
            <a:ext cx="14630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6800"/>
              </a:lnSpc>
              <a:defRPr sz="5600" b="1">
                <a:solidFill>
                  <a:srgbClr val="000000"/>
                </a:solidFill>
                <a:latin typeface="Nanum Square"/>
              </a:defRPr>
            </a:pPr>
            <a:r>
              <a:t>Physically Closed-Loop HILS for</a:t>
            </a:r>
            <a:br/>
            <a:r>
              <a:t>Flight Attitude-Control Validation</a:t>
            </a:r>
          </a:p>
          <a:p>
            <a:pPr algn="ctr">
              <a:spcBef>
                <a:spcPts val="2400"/>
              </a:spcBef>
              <a:defRPr sz="2200" b="0">
                <a:solidFill>
                  <a:srgbClr val="666666"/>
                </a:solidFill>
                <a:latin typeface="Nanum Square"/>
              </a:defRPr>
            </a:pPr>
            <a:r>
              <a:t>Using a Stewart Platform with X-Plane and PX4</a:t>
            </a:r>
          </a:p>
          <a:p>
            <a:pPr algn="ctr">
              <a:spcBef>
                <a:spcPts val="600"/>
              </a:spcBef>
              <a:defRPr sz="1800" b="0">
                <a:solidFill>
                  <a:srgbClr val="999999"/>
                </a:solidFill>
                <a:latin typeface="Nanum Square"/>
              </a:defRPr>
            </a:pPr>
            <a:r>
              <a:t>스튜어트 플랫폼 · X-Plane · PX4 연동 기반 비행체 자세제어 검증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0" y="6400800"/>
            <a:ext cx="14630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000000"/>
                </a:solidFill>
                <a:latin typeface="Nanum Square"/>
              </a:defRPr>
            </a:pPr>
            <a:r>
              <a:t>Spring 2026 KSAS Conference</a:t>
            </a:r>
          </a:p>
          <a:p>
            <a:pPr algn="ctr">
              <a:spcBef>
                <a:spcPts val="600"/>
              </a:spcBef>
              <a:defRPr sz="1800" b="0">
                <a:solidFill>
                  <a:srgbClr val="666666"/>
                </a:solidFill>
                <a:latin typeface="Nanum Square"/>
              </a:defRPr>
            </a:pPr>
            <a:r>
              <a:t>[Author Name] — [Affiliation]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642080" y="9646920"/>
            <a:ext cx="10972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>
                <a:solidFill>
                  <a:srgbClr val="666666"/>
                </a:solidFill>
                <a:latin typeface="Nanum Square"/>
              </a:defRPr>
            </a:pPr>
            <a:r>
              <a:t>1/12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CDCD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04672" y="758952"/>
            <a:ext cx="16669512" cy="86319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04672" y="758952"/>
            <a:ext cx="16669512" cy="1929384"/>
          </a:xfrm>
          <a:prstGeom prst="rect">
            <a:avLst/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882896" y="1371600"/>
            <a:ext cx="8513064" cy="6675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>
                <a:solidFill>
                  <a:srgbClr val="000000"/>
                </a:solidFill>
                <a:latin typeface="Nanum Square"/>
              </a:defRPr>
            </a:pPr>
            <a:r>
              <a:t>Why Add Physical Motion to HILS?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2423160"/>
            <a:ext cx="16669512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>
                <a:latin typeface="Nanum Square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645920" y="3108960"/>
            <a:ext cx="6858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04AAD"/>
                </a:solidFill>
                <a:latin typeface="Nanum Square"/>
              </a:defRPr>
            </a:pPr>
            <a:r>
              <a:t>Conventional HILS</a:t>
            </a:r>
          </a:p>
          <a:p>
            <a:pPr algn="l">
              <a:spcBef>
                <a:spcPts val="1400"/>
              </a:spcBef>
              <a:defRPr sz="2000" b="0">
                <a:solidFill>
                  <a:srgbClr val="2D2D2D"/>
                </a:solidFill>
                <a:latin typeface="Nanum Square"/>
              </a:defRPr>
            </a:pPr>
            <a:r>
              <a:t>•  Simulator computes dynamics</a:t>
            </a:r>
          </a:p>
          <a:p>
            <a:pPr algn="l">
              <a:spcBef>
                <a:spcPts val="200"/>
              </a:spcBef>
              <a:defRPr sz="1600" b="0">
                <a:solidFill>
                  <a:srgbClr val="999999"/>
                </a:solidFill>
                <a:latin typeface="Nanum Square"/>
              </a:defRPr>
            </a:pPr>
            <a:r>
              <a:t>    시뮬레이터가 동역학 계산</a:t>
            </a:r>
          </a:p>
          <a:p>
            <a:pPr algn="l">
              <a:spcBef>
                <a:spcPts val="1400"/>
              </a:spcBef>
              <a:defRPr sz="2000" b="0">
                <a:solidFill>
                  <a:srgbClr val="2D2D2D"/>
                </a:solidFill>
                <a:latin typeface="Nanum Square"/>
              </a:defRPr>
            </a:pPr>
            <a:r>
              <a:t>•  Controller receives synthetic sensor signals</a:t>
            </a:r>
          </a:p>
          <a:p>
            <a:pPr algn="l">
              <a:spcBef>
                <a:spcPts val="200"/>
              </a:spcBef>
              <a:defRPr sz="1600" b="0">
                <a:solidFill>
                  <a:srgbClr val="999999"/>
                </a:solidFill>
                <a:latin typeface="Nanum Square"/>
              </a:defRPr>
            </a:pPr>
            <a:r>
              <a:t>    합성 센서 신호 수신</a:t>
            </a:r>
          </a:p>
          <a:p>
            <a:pPr algn="l">
              <a:spcBef>
                <a:spcPts val="1400"/>
              </a:spcBef>
              <a:defRPr sz="2000" b="0">
                <a:solidFill>
                  <a:srgbClr val="2D2D2D"/>
                </a:solidFill>
                <a:latin typeface="Nanum Square"/>
              </a:defRPr>
            </a:pPr>
            <a:r>
              <a:t>•  Attitude evaluated via logs / screens</a:t>
            </a:r>
          </a:p>
          <a:p>
            <a:pPr algn="l">
              <a:spcBef>
                <a:spcPts val="200"/>
              </a:spcBef>
              <a:defRPr sz="1600" b="0">
                <a:solidFill>
                  <a:srgbClr val="999999"/>
                </a:solidFill>
                <a:latin typeface="Nanum Square"/>
              </a:defRPr>
            </a:pPr>
            <a:r>
              <a:t>    로그/화면으로만 자세 확인</a:t>
            </a:r>
          </a:p>
          <a:p>
            <a:pPr algn="l">
              <a:spcBef>
                <a:spcPts val="1400"/>
              </a:spcBef>
              <a:defRPr sz="2000" b="0">
                <a:solidFill>
                  <a:srgbClr val="2D2D2D"/>
                </a:solidFill>
                <a:latin typeface="Nanum Square"/>
              </a:defRPr>
            </a:pPr>
            <a:r>
              <a:t>•  IMU does not experience real motion</a:t>
            </a:r>
          </a:p>
          <a:p>
            <a:pPr algn="l">
              <a:spcBef>
                <a:spcPts val="200"/>
              </a:spcBef>
              <a:defRPr sz="1600" b="0">
                <a:solidFill>
                  <a:srgbClr val="999999"/>
                </a:solidFill>
                <a:latin typeface="Nanum Square"/>
              </a:defRPr>
            </a:pPr>
            <a:r>
              <a:t>    IMU가 실제 관성 운동 미경험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784080" y="3108960"/>
            <a:ext cx="6858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04AAD"/>
                </a:solidFill>
                <a:latin typeface="Nanum Square"/>
              </a:defRPr>
            </a:pPr>
            <a:r>
              <a:t>This Work</a:t>
            </a:r>
          </a:p>
          <a:p>
            <a:pPr algn="l">
              <a:spcBef>
                <a:spcPts val="1400"/>
              </a:spcBef>
              <a:defRPr sz="2000" b="0">
                <a:solidFill>
                  <a:srgbClr val="2D2D2D"/>
                </a:solidFill>
                <a:latin typeface="Nanum Square"/>
              </a:defRPr>
            </a:pPr>
            <a:r>
              <a:t>•  Simulator drives real Stewart platform motion</a:t>
            </a:r>
          </a:p>
          <a:p>
            <a:pPr algn="l">
              <a:spcBef>
                <a:spcPts val="200"/>
              </a:spcBef>
              <a:defRPr sz="1600" b="0">
                <a:solidFill>
                  <a:srgbClr val="999999"/>
                </a:solidFill>
                <a:latin typeface="Nanum Square"/>
              </a:defRPr>
            </a:pPr>
            <a:r>
              <a:t>    실제 플랫폼 모션 구동</a:t>
            </a:r>
          </a:p>
          <a:p>
            <a:pPr algn="l">
              <a:spcBef>
                <a:spcPts val="1400"/>
              </a:spcBef>
              <a:defRPr sz="2000" b="0">
                <a:solidFill>
                  <a:srgbClr val="2D2D2D"/>
                </a:solidFill>
                <a:latin typeface="Nanum Square"/>
              </a:defRPr>
            </a:pPr>
            <a:r>
              <a:t>•  PX4 IMU senses real inertial excitation</a:t>
            </a:r>
          </a:p>
          <a:p>
            <a:pPr algn="l">
              <a:spcBef>
                <a:spcPts val="200"/>
              </a:spcBef>
              <a:defRPr sz="1600" b="0">
                <a:solidFill>
                  <a:srgbClr val="999999"/>
                </a:solidFill>
                <a:latin typeface="Nanum Square"/>
              </a:defRPr>
            </a:pPr>
            <a:r>
              <a:t>    PX4 IMU 실제 관성 자극 감지</a:t>
            </a:r>
          </a:p>
          <a:p>
            <a:pPr algn="l">
              <a:spcBef>
                <a:spcPts val="1400"/>
              </a:spcBef>
              <a:defRPr sz="2000" b="0">
                <a:solidFill>
                  <a:srgbClr val="2D2D2D"/>
                </a:solidFill>
                <a:latin typeface="Nanum Square"/>
              </a:defRPr>
            </a:pPr>
            <a:r>
              <a:t>•  Measured attitude fed back into loop</a:t>
            </a:r>
          </a:p>
          <a:p>
            <a:pPr algn="l">
              <a:spcBef>
                <a:spcPts val="200"/>
              </a:spcBef>
              <a:defRPr sz="1600" b="0">
                <a:solidFill>
                  <a:srgbClr val="999999"/>
                </a:solidFill>
                <a:latin typeface="Nanum Square"/>
              </a:defRPr>
            </a:pPr>
            <a:r>
              <a:t>    측정 자세 → 제어 루프 피드백</a:t>
            </a:r>
          </a:p>
          <a:p>
            <a:pPr algn="l">
              <a:spcBef>
                <a:spcPts val="1400"/>
              </a:spcBef>
              <a:defRPr sz="2000" b="0">
                <a:solidFill>
                  <a:srgbClr val="2D2D2D"/>
                </a:solidFill>
                <a:latin typeface="Nanum Square"/>
              </a:defRPr>
            </a:pPr>
            <a:r>
              <a:t>•  Timing and fidelity measured</a:t>
            </a:r>
          </a:p>
          <a:p>
            <a:pPr algn="l">
              <a:spcBef>
                <a:spcPts val="200"/>
              </a:spcBef>
              <a:defRPr sz="1600" b="0">
                <a:solidFill>
                  <a:srgbClr val="999999"/>
                </a:solidFill>
                <a:latin typeface="Nanum Square"/>
              </a:defRPr>
            </a:pPr>
            <a:r>
              <a:t>    타이밍·충실도 정량 측정</a:t>
            </a:r>
          </a:p>
        </p:txBody>
      </p:sp>
      <p:sp>
        <p:nvSpPr>
          <p:cNvPr id="8" name="Rectangle 7"/>
          <p:cNvSpPr/>
          <p:nvPr/>
        </p:nvSpPr>
        <p:spPr>
          <a:xfrm>
            <a:off x="9006840" y="3291840"/>
            <a:ext cx="25400" cy="4389120"/>
          </a:xfrm>
          <a:prstGeom prst="rect">
            <a:avLst/>
          </a:prstGeom>
          <a:solidFill>
            <a:srgbClr val="004A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441448" y="8046720"/>
            <a:ext cx="13405104" cy="1097280"/>
          </a:xfrm>
          <a:prstGeom prst="roundRect">
            <a:avLst/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807208" y="8412480"/>
            <a:ext cx="12673584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000000"/>
                </a:solidFill>
                <a:latin typeface="Nanum Square"/>
              </a:defRPr>
            </a:pPr>
            <a:r>
              <a:t>물리적 피드백 포함 HILS 구조의 안정성, 반복성, 정량적 설명 가능성 제시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642080" y="9646920"/>
            <a:ext cx="10972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>
                <a:solidFill>
                  <a:srgbClr val="666666"/>
                </a:solidFill>
                <a:latin typeface="Nanum Square"/>
              </a:defRPr>
            </a:pPr>
            <a:r>
              <a:t>2/12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CDCD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04672" y="758952"/>
            <a:ext cx="16669512" cy="86319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04672" y="758952"/>
            <a:ext cx="16669512" cy="1929384"/>
          </a:xfrm>
          <a:prstGeom prst="rect">
            <a:avLst/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882896" y="1371600"/>
            <a:ext cx="8513064" cy="6675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>
                <a:solidFill>
                  <a:srgbClr val="000000"/>
                </a:solidFill>
                <a:latin typeface="Nanum Square"/>
              </a:defRPr>
            </a:pPr>
            <a:r>
              <a:t>What Is New Here?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0" y="2926080"/>
            <a:ext cx="14630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2D2D2D"/>
                </a:solidFill>
                <a:latin typeface="Nanum Square"/>
              </a:defRPr>
            </a:pPr>
            <a:r>
              <a:t>시뮬레이션 센서 값뿐만 아니라 실제 IMU 모션 기반 자세 추정치를 폐루프 피드백 입력으로 활용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43891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000" b="1">
                <a:solidFill>
                  <a:srgbClr val="004AAD"/>
                </a:solidFill>
                <a:latin typeface="Nanum Square"/>
              </a:defRPr>
            </a:pPr>
            <a: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493776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1">
                <a:solidFill>
                  <a:srgbClr val="2D2D2D"/>
                </a:solidFill>
                <a:latin typeface="Nanum Square"/>
              </a:defRPr>
            </a:pPr>
            <a:r>
              <a:t>Realized Motion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5394960"/>
            <a:ext cx="45720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>
                <a:solidFill>
                  <a:srgbClr val="2D2D2D"/>
                </a:solidFill>
                <a:latin typeface="Nanum Square"/>
              </a:defRPr>
            </a:pPr>
            <a:r>
              <a:t>Simulator attitude is converted</a:t>
            </a:r>
            <a:br/>
            <a:r>
              <a:t>into Stewart-platform motion.</a:t>
            </a:r>
          </a:p>
          <a:p>
            <a:pPr algn="ctr">
              <a:spcBef>
                <a:spcPts val="800"/>
              </a:spcBef>
              <a:defRPr sz="1400" b="0">
                <a:solidFill>
                  <a:srgbClr val="999999"/>
                </a:solidFill>
                <a:latin typeface="Nanum Square"/>
              </a:defRPr>
            </a:pPr>
            <a:r>
              <a:t>시뮬레이터 자세 → 플랫폼 모션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0" y="43891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000" b="1">
                <a:solidFill>
                  <a:srgbClr val="004AAD"/>
                </a:solidFill>
                <a:latin typeface="Nanum Square"/>
              </a:defRPr>
            </a:pPr>
            <a: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0" y="493776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1">
                <a:solidFill>
                  <a:srgbClr val="2D2D2D"/>
                </a:solidFill>
                <a:latin typeface="Nanum Square"/>
              </a:defRPr>
            </a:pPr>
            <a:r>
              <a:t>Physical Sensing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0" y="5394960"/>
            <a:ext cx="45720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>
                <a:solidFill>
                  <a:srgbClr val="2D2D2D"/>
                </a:solidFill>
                <a:latin typeface="Nanum Square"/>
              </a:defRPr>
            </a:pPr>
            <a:r>
              <a:t>PX4 IMU and estimator respond</a:t>
            </a:r>
            <a:br/>
            <a:r>
              <a:t>to real inertial excitation.</a:t>
            </a:r>
          </a:p>
          <a:p>
            <a:pPr algn="ctr">
              <a:spcBef>
                <a:spcPts val="800"/>
              </a:spcBef>
              <a:defRPr sz="1400" b="0">
                <a:solidFill>
                  <a:srgbClr val="999999"/>
                </a:solidFill>
                <a:latin typeface="Nanum Square"/>
              </a:defRPr>
            </a:pPr>
            <a:r>
              <a:t>PX4 IMU가 실제 관성 자극에 반응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0" y="43891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000" b="1">
                <a:solidFill>
                  <a:srgbClr val="004AAD"/>
                </a:solidFill>
                <a:latin typeface="Nanum Square"/>
              </a:defRPr>
            </a:pPr>
            <a: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0" y="493776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1">
                <a:solidFill>
                  <a:srgbClr val="2D2D2D"/>
                </a:solidFill>
                <a:latin typeface="Nanum Square"/>
              </a:defRPr>
            </a:pPr>
            <a:r>
              <a:t>Closed-Loop Return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0" y="5394960"/>
            <a:ext cx="45720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>
                <a:solidFill>
                  <a:srgbClr val="2D2D2D"/>
                </a:solidFill>
                <a:latin typeface="Nanum Square"/>
              </a:defRPr>
            </a:pPr>
            <a:r>
              <a:t>Measured attitude is sent back</a:t>
            </a:r>
            <a:br/>
            <a:r>
              <a:t>into the host control loop.</a:t>
            </a:r>
          </a:p>
          <a:p>
            <a:pPr algn="ctr">
              <a:spcBef>
                <a:spcPts val="800"/>
              </a:spcBef>
              <a:defRPr sz="1400" b="0">
                <a:solidFill>
                  <a:srgbClr val="999999"/>
                </a:solidFill>
                <a:latin typeface="Nanum Square"/>
              </a:defRPr>
            </a:pPr>
            <a:r>
              <a:t>측정된 자세 → 호스트 제어 루프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441448" y="8046720"/>
            <a:ext cx="13405104" cy="1097280"/>
          </a:xfrm>
          <a:prstGeom prst="roundRect">
            <a:avLst/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807208" y="8412480"/>
            <a:ext cx="12673584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000000"/>
                </a:solidFill>
                <a:latin typeface="Nanum Square"/>
              </a:defRPr>
            </a:pPr>
            <a:r>
              <a:t>⚠️ 연구 목적상 폐루프 성능 중심으로 설계되었으며, 전 영역 공력 효과는 포함하지 않습니다.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642080" y="9646920"/>
            <a:ext cx="10972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>
                <a:solidFill>
                  <a:srgbClr val="666666"/>
                </a:solidFill>
                <a:latin typeface="Nanum Square"/>
              </a:defRPr>
            </a:pPr>
            <a:r>
              <a:t>3/12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CDCD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04672" y="758952"/>
            <a:ext cx="16669512" cy="86319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04672" y="758952"/>
            <a:ext cx="16669512" cy="1929384"/>
          </a:xfrm>
          <a:prstGeom prst="rect">
            <a:avLst/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882896" y="1371600"/>
            <a:ext cx="8513064" cy="6675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>
                <a:solidFill>
                  <a:srgbClr val="000000"/>
                </a:solidFill>
                <a:latin typeface="Nanum Square"/>
              </a:defRPr>
            </a:pPr>
            <a:r>
              <a:t>System in Action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0" y="3108960"/>
            <a:ext cx="7132320" cy="4572000"/>
          </a:xfrm>
          <a:prstGeom prst="rect">
            <a:avLst/>
          </a:prstGeom>
          <a:solidFill>
            <a:srgbClr val="F0F0F0"/>
          </a:solidFill>
          <a:ln w="1270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00" lIns="254000"/>
          <a:lstStyle/>
          <a:p>
            <a:pPr algn="ctr">
              <a:defRPr sz="2200" b="0">
                <a:solidFill>
                  <a:srgbClr val="666666"/>
                </a:solidFill>
                <a:latin typeface="Nanum Square"/>
              </a:defRPr>
            </a:pPr>
            <a:r>
              <a:t>[Insert hardware photo]</a:t>
            </a:r>
          </a:p>
          <a:p>
            <a:pPr algn="ctr">
              <a:spcBef>
                <a:spcPts val="800"/>
              </a:spcBef>
              <a:defRPr sz="1600" b="0">
                <a:solidFill>
                  <a:srgbClr val="999999"/>
                </a:solidFill>
                <a:latin typeface="Nanum Square"/>
              </a:defRPr>
            </a:pPr>
            <a:r>
              <a:t>스튜어트 플랫폼 + PX4 탑재 사진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0" y="3108960"/>
            <a:ext cx="7132320" cy="4572000"/>
          </a:xfrm>
          <a:prstGeom prst="rect">
            <a:avLst/>
          </a:prstGeom>
          <a:solidFill>
            <a:srgbClr val="F0F0F0"/>
          </a:solidFill>
          <a:ln w="1270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00" lIns="254000"/>
          <a:lstStyle/>
          <a:p>
            <a:pPr algn="ctr">
              <a:defRPr sz="2200" b="0">
                <a:solidFill>
                  <a:srgbClr val="666666"/>
                </a:solidFill>
                <a:latin typeface="Nanum Square"/>
              </a:defRPr>
            </a:pPr>
            <a:r>
              <a:t>[Insert demo video]</a:t>
            </a:r>
          </a:p>
          <a:p>
            <a:pPr algn="ctr">
              <a:spcBef>
                <a:spcPts val="800"/>
              </a:spcBef>
              <a:defRPr sz="1600" b="0">
                <a:solidFill>
                  <a:srgbClr val="999999"/>
                </a:solidFill>
                <a:latin typeface="Nanum Square"/>
              </a:defRPr>
            </a:pPr>
            <a:r>
              <a:t>Trim transition 시나리오 구동 영상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441448" y="8046720"/>
            <a:ext cx="13405104" cy="1097280"/>
          </a:xfrm>
          <a:prstGeom prst="roundRect">
            <a:avLst/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807208" y="8412480"/>
            <a:ext cx="12673584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000000"/>
                </a:solidFill>
                <a:latin typeface="Nanum Square"/>
              </a:defRPr>
            </a:pPr>
            <a:r>
              <a:t>X-Plane sim attitude → Stewart platform motion → PX4 IMU sensing → closed-loop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642080" y="9646920"/>
            <a:ext cx="10972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>
                <a:solidFill>
                  <a:srgbClr val="666666"/>
                </a:solidFill>
                <a:latin typeface="Nanum Square"/>
              </a:defRPr>
            </a:pPr>
            <a:r>
              <a:t>4/12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CDCD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04672" y="758952"/>
            <a:ext cx="16669512" cy="86319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04672" y="758952"/>
            <a:ext cx="16669512" cy="1929384"/>
          </a:xfrm>
          <a:prstGeom prst="rect">
            <a:avLst/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882896" y="1371600"/>
            <a:ext cx="8513064" cy="6675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>
                <a:solidFill>
                  <a:srgbClr val="000000"/>
                </a:solidFill>
                <a:latin typeface="Nanum Square"/>
              </a:defRPr>
            </a:pPr>
            <a:r>
              <a:t>How the Physical Closed Loop Works</a:t>
            </a:r>
          </a:p>
        </p:txBody>
      </p:sp>
      <p:pic>
        <p:nvPicPr>
          <p:cNvPr id="5" name="Picture 4" descr="Fig1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68880" y="3108960"/>
            <a:ext cx="6865668" cy="4680000"/>
          </a:xfrm>
          <a:prstGeom prst="rect">
            <a:avLst/>
          </a:prstGeom>
        </p:spPr>
      </p:pic>
      <p:sp>
        <p:nvSpPr>
          <p:cNvPr id="6" name="Oval 5"/>
          <p:cNvSpPr/>
          <p:nvPr/>
        </p:nvSpPr>
        <p:spPr>
          <a:xfrm>
            <a:off x="3009933" y="3608302"/>
            <a:ext cx="502920" cy="502920"/>
          </a:xfrm>
          <a:prstGeom prst="ellipse">
            <a:avLst/>
          </a:prstGeom>
          <a:solidFill>
            <a:srgbClr val="C0392B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lIns="0" rIns="0"/>
          <a:lstStyle/>
          <a:p>
            <a:pPr algn="ctr">
              <a:defRPr sz="2000" b="1">
                <a:solidFill>
                  <a:srgbClr val="FFFFFF"/>
                </a:solidFill>
                <a:latin typeface="Nanum Square"/>
              </a:defRPr>
            </a:pPr>
            <a:r>
              <a:t>1</a:t>
            </a:r>
          </a:p>
        </p:txBody>
      </p:sp>
      <p:sp>
        <p:nvSpPr>
          <p:cNvPr id="7" name="Oval 6"/>
          <p:cNvSpPr/>
          <p:nvPr/>
        </p:nvSpPr>
        <p:spPr>
          <a:xfrm>
            <a:off x="3009933" y="5172473"/>
            <a:ext cx="502920" cy="502920"/>
          </a:xfrm>
          <a:prstGeom prst="ellipse">
            <a:avLst/>
          </a:prstGeom>
          <a:solidFill>
            <a:srgbClr val="C0392B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lIns="0" rIns="0"/>
          <a:lstStyle/>
          <a:p>
            <a:pPr algn="ctr">
              <a:defRPr sz="2000" b="1">
                <a:solidFill>
                  <a:srgbClr val="FFFFFF"/>
                </a:solidFill>
                <a:latin typeface="Nanum Square"/>
              </a:defRPr>
            </a:pPr>
            <a:r>
              <a:t>2</a:t>
            </a:r>
          </a:p>
        </p:txBody>
      </p:sp>
      <p:sp>
        <p:nvSpPr>
          <p:cNvPr id="8" name="Oval 7"/>
          <p:cNvSpPr/>
          <p:nvPr/>
        </p:nvSpPr>
        <p:spPr>
          <a:xfrm>
            <a:off x="5262339" y="6402954"/>
            <a:ext cx="502920" cy="502920"/>
          </a:xfrm>
          <a:prstGeom prst="ellipse">
            <a:avLst/>
          </a:prstGeom>
          <a:solidFill>
            <a:srgbClr val="C0392B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lIns="0" rIns="0"/>
          <a:lstStyle/>
          <a:p>
            <a:pPr algn="ctr">
              <a:defRPr sz="2000" b="1">
                <a:solidFill>
                  <a:srgbClr val="FFFFFF"/>
                </a:solidFill>
                <a:latin typeface="Nanum Square"/>
              </a:defRPr>
            </a:pPr>
            <a:r>
              <a:t>3</a:t>
            </a:r>
          </a:p>
        </p:txBody>
      </p:sp>
      <p:sp>
        <p:nvSpPr>
          <p:cNvPr id="9" name="Oval 8"/>
          <p:cNvSpPr/>
          <p:nvPr/>
        </p:nvSpPr>
        <p:spPr>
          <a:xfrm>
            <a:off x="8140414" y="5172473"/>
            <a:ext cx="502920" cy="502920"/>
          </a:xfrm>
          <a:prstGeom prst="ellipse">
            <a:avLst/>
          </a:prstGeom>
          <a:solidFill>
            <a:srgbClr val="C0392B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lIns="0" rIns="0"/>
          <a:lstStyle/>
          <a:p>
            <a:pPr algn="ctr">
              <a:defRPr sz="2000" b="1">
                <a:solidFill>
                  <a:srgbClr val="FFFFFF"/>
                </a:solidFill>
                <a:latin typeface="Nanum Square"/>
              </a:defRPr>
            </a:pPr>
            <a:r>
              <a:t>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3108960"/>
            <a:ext cx="5486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04AAD"/>
                </a:solidFill>
                <a:latin typeface="Nanum Square"/>
              </a:defRPr>
            </a:pPr>
            <a: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795760" y="3144960"/>
            <a:ext cx="54864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400"/>
              </a:lnSpc>
              <a:defRPr sz="2400">
                <a:solidFill>
                  <a:srgbClr val="2D2D2D"/>
                </a:solidFill>
                <a:latin typeface="Nanum Square"/>
              </a:defRPr>
            </a:pPr>
            <a:r>
              <a:t>X-Plane publishes vehicle state</a:t>
            </a:r>
            <a:br/>
            <a:r>
              <a:t>to the Python host over UDP.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0" y="4297680"/>
            <a:ext cx="5486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04AAD"/>
                </a:solidFill>
                <a:latin typeface="Nanum Square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795760" y="4333680"/>
            <a:ext cx="54864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400"/>
              </a:lnSpc>
              <a:defRPr sz="2400">
                <a:solidFill>
                  <a:srgbClr val="2D2D2D"/>
                </a:solidFill>
                <a:latin typeface="Nanum Square"/>
              </a:defRPr>
            </a:pPr>
            <a:r>
              <a:t>Host converts state to pose</a:t>
            </a:r>
            <a:br/>
            <a:r>
              <a:t>commands for the Stewart platform.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0" y="5486400"/>
            <a:ext cx="5486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04AAD"/>
                </a:solidFill>
                <a:latin typeface="Nanum Square"/>
              </a:defRPr>
            </a:pPr>
            <a: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795760" y="5522400"/>
            <a:ext cx="54864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400"/>
              </a:lnSpc>
              <a:defRPr sz="2400">
                <a:solidFill>
                  <a:srgbClr val="2D2D2D"/>
                </a:solidFill>
                <a:latin typeface="Nanum Square"/>
              </a:defRPr>
            </a:pPr>
            <a:r>
              <a:t>PX4 physically senses platform</a:t>
            </a:r>
            <a:br/>
            <a:r>
              <a:t>motion through its onboard IMU.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55680" y="6675120"/>
            <a:ext cx="5486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04AAD"/>
                </a:solidFill>
                <a:latin typeface="Nanum Square"/>
              </a:defRPr>
            </a:pPr>
            <a: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795760" y="6711120"/>
            <a:ext cx="54864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400"/>
              </a:lnSpc>
              <a:defRPr sz="2400">
                <a:solidFill>
                  <a:srgbClr val="2D2D2D"/>
                </a:solidFill>
                <a:latin typeface="Nanum Square"/>
              </a:defRPr>
            </a:pPr>
            <a:r>
              <a:t>PX4 attitude returns to host;</a:t>
            </a:r>
            <a:br/>
            <a:r>
              <a:t>host injects control into X-Plane.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8503920"/>
            <a:ext cx="14630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1">
                <a:solidFill>
                  <a:srgbClr val="004AAD"/>
                </a:solidFill>
                <a:latin typeface="Nanum Square"/>
              </a:defRPr>
            </a:pPr>
            <a:r>
              <a:t>The loop is closed across software, mechanics, sensing, and control I/O.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642080" y="9646920"/>
            <a:ext cx="10972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>
                <a:solidFill>
                  <a:srgbClr val="666666"/>
                </a:solidFill>
                <a:latin typeface="Nanum Square"/>
              </a:defRPr>
            </a:pPr>
            <a:r>
              <a:t>5/12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CDCD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04672" y="758952"/>
            <a:ext cx="16669512" cy="86319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04672" y="758952"/>
            <a:ext cx="16669512" cy="1929384"/>
          </a:xfrm>
          <a:prstGeom prst="rect">
            <a:avLst/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882896" y="1371600"/>
            <a:ext cx="8513064" cy="6675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>
                <a:solidFill>
                  <a:srgbClr val="000000"/>
                </a:solidFill>
                <a:latin typeface="Nanum Square"/>
              </a:defRPr>
            </a:pPr>
            <a:r>
              <a:t>What We Tested and How We Measured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45920" y="3108960"/>
            <a:ext cx="6858000" cy="5943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04AAD"/>
                </a:solidFill>
                <a:latin typeface="Nanum Square"/>
              </a:defRPr>
            </a:pPr>
            <a:r>
              <a:t>Baseline Scenario</a:t>
            </a:r>
          </a:p>
          <a:p>
            <a:pPr algn="l">
              <a:spcBef>
                <a:spcPts val="1800"/>
              </a:spcBef>
              <a:defRPr sz="2200" b="1">
                <a:solidFill>
                  <a:srgbClr val="2D2D2D"/>
                </a:solidFill>
                <a:latin typeface="Nanum Square"/>
              </a:defRPr>
            </a:pPr>
            <a:r>
              <a:t>Pitch trim transition:</a:t>
            </a:r>
          </a:p>
          <a:p>
            <a:pPr algn="l">
              <a:spcBef>
                <a:spcPts val="600"/>
              </a:spcBef>
              <a:defRPr sz="2600" b="1">
                <a:solidFill>
                  <a:srgbClr val="004AAD"/>
                </a:solidFill>
                <a:latin typeface="Nanum Square"/>
              </a:defRPr>
            </a:pPr>
            <a:r>
              <a:t>0° → +5° → hold → 0°</a:t>
            </a:r>
          </a:p>
          <a:p>
            <a:pPr algn="l">
              <a:spcBef>
                <a:spcPts val="800"/>
              </a:spcBef>
              <a:defRPr sz="800" b="0">
                <a:solidFill>
                  <a:srgbClr val="2D2D2D"/>
                </a:solidFill>
                <a:latin typeface="Nanum Square"/>
              </a:defRPr>
            </a:pPr>
          </a:p>
          <a:p>
            <a:pPr algn="l">
              <a:spcBef>
                <a:spcPts val="800"/>
              </a:spcBef>
              <a:defRPr sz="1800" b="0">
                <a:solidFill>
                  <a:srgbClr val="2D2D2D"/>
                </a:solidFill>
                <a:latin typeface="Nanum Square"/>
              </a:defRPr>
            </a:pPr>
            <a:r>
              <a:t>•  항상 동일 Honolulu (PHNL) 10nm 어프로치로 시작</a:t>
            </a:r>
          </a:p>
          <a:p>
            <a:pPr algn="l">
              <a:spcBef>
                <a:spcPts val="648"/>
              </a:spcBef>
              <a:defRPr sz="800" b="0">
                <a:solidFill>
                  <a:srgbClr val="2D2D2D"/>
                </a:solidFill>
                <a:latin typeface="Nanum Square"/>
              </a:defRPr>
            </a:pPr>
          </a:p>
          <a:p>
            <a:pPr algn="l">
              <a:spcBef>
                <a:spcPts val="800"/>
              </a:spcBef>
              <a:defRPr sz="1800" b="0">
                <a:solidFill>
                  <a:srgbClr val="2D2D2D"/>
                </a:solidFill>
                <a:latin typeface="Nanum Square"/>
              </a:defRPr>
            </a:pPr>
            <a:r>
              <a:t>•  스크립트로 적용된 유예 기간 동안 시스템 안정화 후 데이터 수집</a:t>
            </a:r>
          </a:p>
          <a:p>
            <a:pPr algn="l">
              <a:spcBef>
                <a:spcPts val="648"/>
              </a:spcBef>
              <a:defRPr sz="800" b="0">
                <a:solidFill>
                  <a:srgbClr val="2D2D2D"/>
                </a:solidFill>
                <a:latin typeface="Nanum Square"/>
              </a:defRPr>
            </a:pPr>
          </a:p>
          <a:p>
            <a:pPr algn="l">
              <a:spcBef>
                <a:spcPts val="800"/>
              </a:spcBef>
              <a:defRPr sz="1800" b="0">
                <a:solidFill>
                  <a:srgbClr val="2D2D2D"/>
                </a:solidFill>
                <a:latin typeface="Nanum Square"/>
              </a:defRPr>
            </a:pPr>
            <a:r>
              <a:t>•  Stewart 플랫폼의 포화 플래그(SAT) 감시; 작업 공간 내 유지</a:t>
            </a:r>
          </a:p>
          <a:p>
            <a:pPr algn="l">
              <a:spcBef>
                <a:spcPts val="648"/>
              </a:spcBef>
              <a:defRPr sz="800" b="0">
                <a:solidFill>
                  <a:srgbClr val="2D2D2D"/>
                </a:solidFill>
                <a:latin typeface="Nanum Square"/>
              </a:defRPr>
            </a:pPr>
          </a:p>
          <a:p>
            <a:pPr algn="l">
              <a:spcBef>
                <a:spcPts val="800"/>
              </a:spcBef>
              <a:defRPr sz="1800" b="0">
                <a:solidFill>
                  <a:srgbClr val="2D2D2D"/>
                </a:solidFill>
                <a:latin typeface="Nanum Square"/>
              </a:defRPr>
            </a:pPr>
            <a:r>
              <a:t>•  조건별 9회 반복 실행으로 통계적 유의미성 확보</a:t>
            </a:r>
          </a:p>
          <a:p>
            <a:pPr algn="l">
              <a:spcBef>
                <a:spcPts val="648"/>
              </a:spcBef>
              <a:defRPr sz="800" b="0">
                <a:solidFill>
                  <a:srgbClr val="2D2D2D"/>
                </a:solidFill>
                <a:latin typeface="Nanum Square"/>
              </a:defRPr>
            </a:pPr>
          </a:p>
          <a:p>
            <a:pPr algn="l">
              <a:spcBef>
                <a:spcPts val="800"/>
              </a:spcBef>
              <a:defRPr sz="1800" b="0">
                <a:solidFill>
                  <a:srgbClr val="2D2D2D"/>
                </a:solidFill>
                <a:latin typeface="Nanum Square"/>
              </a:defRPr>
            </a:pPr>
            <a:r>
              <a:t>•  z=+20 mm에서 중립자세 설정 (최대 회전)</a:t>
            </a:r>
          </a:p>
        </p:txBody>
      </p:sp>
      <p:sp>
        <p:nvSpPr>
          <p:cNvPr id="6" name="Rectangle 5"/>
          <p:cNvSpPr/>
          <p:nvPr/>
        </p:nvSpPr>
        <p:spPr>
          <a:xfrm>
            <a:off x="9006840" y="3291840"/>
            <a:ext cx="25400" cy="4937760"/>
          </a:xfrm>
          <a:prstGeom prst="rect">
            <a:avLst/>
          </a:prstGeom>
          <a:solidFill>
            <a:srgbClr val="004A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84080" y="3108960"/>
            <a:ext cx="6858000" cy="5943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04AAD"/>
                </a:solidFill>
                <a:latin typeface="Nanum Square"/>
              </a:defRPr>
            </a:pPr>
            <a:r>
              <a:t>Logged Signals</a:t>
            </a:r>
          </a:p>
          <a:p>
            <a:pPr algn="l">
              <a:spcBef>
                <a:spcPts val="1000"/>
              </a:spcBef>
              <a:defRPr sz="2000" b="0">
                <a:solidFill>
                  <a:srgbClr val="2D2D2D"/>
                </a:solidFill>
                <a:latin typeface="Nanum Square"/>
              </a:defRPr>
            </a:pPr>
            <a:r>
              <a:t>•  X-Plane attitude</a:t>
            </a:r>
          </a:p>
          <a:p>
            <a:pPr algn="l">
              <a:spcBef>
                <a:spcPts val="1000"/>
              </a:spcBef>
              <a:defRPr sz="2000" b="0">
                <a:solidFill>
                  <a:srgbClr val="2D2D2D"/>
                </a:solidFill>
                <a:latin typeface="Nanum Square"/>
              </a:defRPr>
            </a:pPr>
            <a:r>
              <a:t>•  PX4 자세 추정값</a:t>
            </a:r>
          </a:p>
          <a:p>
            <a:pPr algn="l">
              <a:spcBef>
                <a:spcPts val="1000"/>
              </a:spcBef>
              <a:defRPr sz="2000" b="0">
                <a:solidFill>
                  <a:srgbClr val="2D2D2D"/>
                </a:solidFill>
                <a:latin typeface="Nanum Square"/>
              </a:defRPr>
            </a:pPr>
            <a:r>
              <a:t>•  플랫폼 pose command</a:t>
            </a:r>
          </a:p>
          <a:p>
            <a:pPr algn="l">
              <a:spcBef>
                <a:spcPts val="1000"/>
              </a:spcBef>
              <a:defRPr sz="2000" b="0">
                <a:solidFill>
                  <a:srgbClr val="2D2D2D"/>
                </a:solidFill>
                <a:latin typeface="Nanum Square"/>
              </a:defRPr>
            </a:pPr>
            <a:r>
              <a:t>•  ACK timing + host timestamps</a:t>
            </a:r>
          </a:p>
          <a:p>
            <a:pPr algn="l">
              <a:spcBef>
                <a:spcPts val="1400"/>
              </a:spcBef>
              <a:defRPr sz="800" b="0">
                <a:solidFill>
                  <a:srgbClr val="2D2D2D"/>
                </a:solidFill>
                <a:latin typeface="Nanum Square"/>
              </a:defRPr>
            </a:pPr>
          </a:p>
          <a:p>
            <a:pPr algn="l">
              <a:spcBef>
                <a:spcPts val="600"/>
              </a:spcBef>
              <a:defRPr sz="2400" b="1">
                <a:solidFill>
                  <a:srgbClr val="004AAD"/>
                </a:solidFill>
                <a:latin typeface="Nanum Square"/>
              </a:defRPr>
            </a:pPr>
            <a:r>
              <a:t>Extracted Metrics</a:t>
            </a:r>
          </a:p>
          <a:p>
            <a:pPr algn="l">
              <a:spcBef>
                <a:spcPts val="800"/>
              </a:spcBef>
              <a:defRPr sz="2000" b="0">
                <a:solidFill>
                  <a:srgbClr val="2D2D2D"/>
                </a:solidFill>
                <a:latin typeface="Nanum Square"/>
              </a:defRPr>
            </a:pPr>
            <a:r>
              <a:t>•  Tracking error (raw)</a:t>
            </a:r>
          </a:p>
          <a:p>
            <a:pPr algn="l">
              <a:spcBef>
                <a:spcPts val="800"/>
              </a:spcBef>
              <a:defRPr sz="2000" b="0">
                <a:solidFill>
                  <a:srgbClr val="2D2D2D"/>
                </a:solidFill>
                <a:latin typeface="Nanum Square"/>
              </a:defRPr>
            </a:pPr>
            <a:r>
              <a:t>•  Bias-corrected tracking error</a:t>
            </a:r>
          </a:p>
          <a:p>
            <a:pPr algn="l">
              <a:spcBef>
                <a:spcPts val="800"/>
              </a:spcBef>
              <a:defRPr sz="2000" b="0">
                <a:solidFill>
                  <a:srgbClr val="2D2D2D"/>
                </a:solidFill>
                <a:latin typeface="Nanum Square"/>
              </a:defRPr>
            </a:pPr>
            <a:r>
              <a:t>•  Sample age</a:t>
            </a:r>
          </a:p>
          <a:p>
            <a:pPr algn="l">
              <a:spcBef>
                <a:spcPts val="800"/>
              </a:spcBef>
              <a:defRPr sz="2000" b="0">
                <a:solidFill>
                  <a:srgbClr val="2D2D2D"/>
                </a:solidFill>
                <a:latin typeface="Nanum Square"/>
              </a:defRPr>
            </a:pPr>
            <a:r>
              <a:t>•  Serial RTT / end-to-end delay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642080" y="9646920"/>
            <a:ext cx="10972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>
                <a:solidFill>
                  <a:srgbClr val="666666"/>
                </a:solidFill>
                <a:latin typeface="Nanum Square"/>
              </a:defRPr>
            </a:pPr>
            <a:r>
              <a:t>6/12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CDCD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04672" y="758952"/>
            <a:ext cx="16669512" cy="86319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04672" y="758952"/>
            <a:ext cx="16669512" cy="1929384"/>
          </a:xfrm>
          <a:prstGeom prst="rect">
            <a:avLst/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882896" y="1371600"/>
            <a:ext cx="8513064" cy="6675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>
                <a:solidFill>
                  <a:srgbClr val="000000"/>
                </a:solidFill>
                <a:latin typeface="Nanum Square"/>
              </a:defRPr>
            </a:pPr>
            <a:r>
              <a:t>Result 1: Closed-Loop Tracking Is Achieved</a:t>
            </a:r>
          </a:p>
        </p:txBody>
      </p:sp>
      <p:pic>
        <p:nvPicPr>
          <p:cNvPr id="5" name="Picture 4" descr="Fig2_PitchRespon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3108960"/>
            <a:ext cx="10515600" cy="4114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887200" y="3291840"/>
            <a:ext cx="5029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2D2D2D"/>
                </a:solidFill>
                <a:latin typeface="Nanum Square"/>
              </a:defRPr>
            </a:pPr>
            <a:r>
              <a:t>PX4 follows the step response with consistent phase lag.</a:t>
            </a:r>
          </a:p>
          <a:p>
            <a:pPr algn="l">
              <a:spcBef>
                <a:spcPts val="800"/>
              </a:spcBef>
              <a:defRPr sz="1400" b="0">
                <a:solidFill>
                  <a:srgbClr val="999999"/>
                </a:solidFill>
                <a:latin typeface="Nanum Square"/>
              </a:defRPr>
            </a:pPr>
            <a:r>
              <a:t>일관된 위상 지연으로 스텝 응답 추종</a:t>
            </a:r>
          </a:p>
          <a:p>
            <a:pPr algn="l">
              <a:spcBef>
                <a:spcPts val="1600"/>
              </a:spcBef>
              <a:defRPr sz="800" b="0">
                <a:solidFill>
                  <a:srgbClr val="2D2D2D"/>
                </a:solidFill>
                <a:latin typeface="Nanum Square"/>
              </a:defRPr>
            </a:pPr>
          </a:p>
          <a:p>
            <a:pPr algn="l">
              <a:spcBef>
                <a:spcPts val="400"/>
              </a:spcBef>
              <a:defRPr sz="2000" b="0">
                <a:solidFill>
                  <a:srgbClr val="2D2D2D"/>
                </a:solidFill>
                <a:latin typeface="Nanum Square"/>
              </a:defRPr>
            </a:pPr>
            <a:r>
              <a:t>Residual offset is structured —</a:t>
            </a:r>
            <a:br/>
            <a:r>
              <a:t>explainable bias, not instability.</a:t>
            </a:r>
          </a:p>
          <a:p>
            <a:pPr algn="l">
              <a:spcBef>
                <a:spcPts val="800"/>
              </a:spcBef>
              <a:defRPr sz="1400" b="0">
                <a:solidFill>
                  <a:srgbClr val="999999"/>
                </a:solidFill>
                <a:latin typeface="Nanum Square"/>
              </a:defRPr>
            </a:pPr>
            <a:r>
              <a:t>잔여 오프셋: 불안정이 아닌 설명 가능한 바이어스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441448" y="8046720"/>
            <a:ext cx="13405104" cy="1097280"/>
          </a:xfrm>
          <a:prstGeom prst="roundRect">
            <a:avLst/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807208" y="8412480"/>
            <a:ext cx="12673584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000000"/>
                </a:solidFill>
                <a:latin typeface="Nanum Square"/>
              </a:defRPr>
            </a:pPr>
            <a:r>
              <a:t>The platform reproduces commanded attitude transitions well enough for quantitative closed-loop validation.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642080" y="9646920"/>
            <a:ext cx="10972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>
                <a:solidFill>
                  <a:srgbClr val="666666"/>
                </a:solidFill>
                <a:latin typeface="Nanum Square"/>
              </a:defRPr>
            </a:pPr>
            <a:r>
              <a:t>7/12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CDCD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04672" y="758952"/>
            <a:ext cx="16669512" cy="86319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04672" y="758952"/>
            <a:ext cx="16669512" cy="1929384"/>
          </a:xfrm>
          <a:prstGeom prst="rect">
            <a:avLst/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882896" y="1371600"/>
            <a:ext cx="8513064" cy="6675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>
                <a:solidFill>
                  <a:srgbClr val="000000"/>
                </a:solidFill>
                <a:latin typeface="Nanum Square"/>
              </a:defRPr>
            </a:pPr>
            <a:r>
              <a:t>Result 2: Residual Error Is Interpretable</a:t>
            </a:r>
          </a:p>
        </p:txBody>
      </p:sp>
      <p:pic>
        <p:nvPicPr>
          <p:cNvPr id="5" name="Picture 4" descr="Fig3_PitchErr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3108960"/>
            <a:ext cx="7315200" cy="3657600"/>
          </a:xfrm>
          <a:prstGeom prst="rect">
            <a:avLst/>
          </a:prstGeom>
        </p:spPr>
      </p:pic>
      <p:pic>
        <p:nvPicPr>
          <p:cNvPr id="6" name="Picture 5" descr="Fig4_MountingBias_TimeSeri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0" y="3108960"/>
            <a:ext cx="7315200" cy="3657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400" y="694944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i="1">
                <a:solidFill>
                  <a:srgbClr val="666666"/>
                </a:solidFill>
                <a:latin typeface="Nanum Square"/>
              </a:defRPr>
            </a:pPr>
            <a:r>
              <a:t>Bias correction moves error distribution closer to zero.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94944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i="1">
                <a:solidFill>
                  <a:srgbClr val="666666"/>
                </a:solidFill>
                <a:latin typeface="Nanum Square"/>
              </a:defRPr>
            </a:pPr>
            <a:r>
              <a:t>Firm-mounted run shows stable offset consistent with mounting bias.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441448" y="8046720"/>
            <a:ext cx="13405104" cy="1097280"/>
          </a:xfrm>
          <a:prstGeom prst="roundRect">
            <a:avLst/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807208" y="8412480"/>
            <a:ext cx="12673584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000000"/>
                </a:solidFill>
                <a:latin typeface="Nanum Square"/>
              </a:defRPr>
            </a:pPr>
            <a:r>
              <a:t>The dominant residual is not random instability — a fixed bias must be separated from dynamic tracking fidelity.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642080" y="9646920"/>
            <a:ext cx="10972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>
                <a:solidFill>
                  <a:srgbClr val="666666"/>
                </a:solidFill>
                <a:latin typeface="Nanum Square"/>
              </a:defRPr>
            </a:pPr>
            <a:r>
              <a:t>8/12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CDCD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04672" y="758952"/>
            <a:ext cx="16669512" cy="86319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04672" y="758952"/>
            <a:ext cx="16669512" cy="1929384"/>
          </a:xfrm>
          <a:prstGeom prst="rect">
            <a:avLst/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882896" y="1371600"/>
            <a:ext cx="8513064" cy="6675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>
                <a:solidFill>
                  <a:srgbClr val="000000"/>
                </a:solidFill>
                <a:latin typeface="Nanum Square"/>
              </a:defRPr>
            </a:pPr>
            <a:r>
              <a:t>Result 3: Latency Sets the Fidelity Limit</a:t>
            </a:r>
          </a:p>
        </p:txBody>
      </p:sp>
      <p:pic>
        <p:nvPicPr>
          <p:cNvPr id="5" name="Picture 4" descr="Fig5a_Latency_TimeSer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3108960"/>
            <a:ext cx="7772400" cy="3474720"/>
          </a:xfrm>
          <a:prstGeom prst="rect">
            <a:avLst/>
          </a:prstGeom>
        </p:spPr>
      </p:pic>
      <p:pic>
        <p:nvPicPr>
          <p:cNvPr id="6" name="Picture 5" descr="Fig5b_Latency_Distribution_Baseli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0" y="3108960"/>
            <a:ext cx="7772400" cy="34747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371600" y="6858000"/>
            <a:ext cx="4114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004AAD"/>
                </a:solidFill>
                <a:latin typeface="Nanum Square"/>
              </a:defRPr>
            </a:pPr>
            <a:r>
              <a:t>Serial RTT mean ≈ 22 ms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6858000"/>
            <a:ext cx="4114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004AAD"/>
                </a:solidFill>
                <a:latin typeface="Nanum Square"/>
              </a:defRPr>
            </a:pPr>
            <a:r>
              <a:t>PX4 rx→ACK mean ≈ 41 ms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0" y="6858000"/>
            <a:ext cx="4114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004AAD"/>
                </a:solidFill>
                <a:latin typeface="Nanum Square"/>
              </a:defRPr>
            </a:pPr>
            <a:r>
              <a:t>X-Plane rx→ACK mean ≈ 51 ms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441448" y="8046720"/>
            <a:ext cx="13405104" cy="1097280"/>
          </a:xfrm>
          <a:prstGeom prst="roundRect">
            <a:avLst/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07208" y="8412480"/>
            <a:ext cx="12673584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000000"/>
                </a:solidFill>
                <a:latin typeface="Nanum Square"/>
              </a:defRPr>
            </a:pPr>
            <a:r>
              <a:t>Measured delay and jitter explain the phase lag and define the practical bandwidth of this platform.</a:t>
            </a:r>
          </a:p>
          <a:p>
            <a:pPr algn="l">
              <a:spcBef>
                <a:spcPts val="600"/>
              </a:spcBef>
              <a:defRPr sz="1600" b="0">
                <a:solidFill>
                  <a:srgbClr val="666666"/>
                </a:solidFill>
                <a:latin typeface="Nanum Square"/>
              </a:defRPr>
            </a:pPr>
            <a:r>
              <a:t>Baseline runs show near-zero saturation → nominal timing dominates.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642080" y="9646920"/>
            <a:ext cx="10972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>
                <a:solidFill>
                  <a:srgbClr val="666666"/>
                </a:solidFill>
                <a:latin typeface="Nanum Square"/>
              </a:defRPr>
            </a:pPr>
            <a:r>
              <a:t>9/12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CDCD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04672" y="758952"/>
            <a:ext cx="16669512" cy="86319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04672" y="758952"/>
            <a:ext cx="16669512" cy="1929384"/>
          </a:xfrm>
          <a:prstGeom prst="rect">
            <a:avLst/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882896" y="1371600"/>
            <a:ext cx="8513064" cy="6675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>
                <a:solidFill>
                  <a:srgbClr val="000000"/>
                </a:solidFill>
                <a:latin typeface="Nanum Square"/>
              </a:defRPr>
            </a:pPr>
            <a:r>
              <a:t>What This Platform Does Not Claim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463040" y="2971800"/>
            <a:ext cx="7223760" cy="2377440"/>
          </a:xfrm>
          <a:prstGeom prst="round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645920" y="3108960"/>
            <a:ext cx="6858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C0392B"/>
                </a:solidFill>
                <a:latin typeface="Nanum Square"/>
              </a:defRPr>
            </a:pPr>
            <a:r>
              <a:t>Finite Workspace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45920" y="3520440"/>
            <a:ext cx="6858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999999"/>
                </a:solidFill>
                <a:latin typeface="Nanum Square"/>
              </a:defRPr>
            </a:pPr>
            <a:r>
              <a:t>유한한 작업 영역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20" y="3931920"/>
            <a:ext cx="6858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2D2D2D"/>
                </a:solidFill>
                <a:latin typeface="Nanum Square"/>
              </a:defRPr>
            </a:pPr>
            <a:r>
              <a:t>Large multi-axis commands reduce</a:t>
            </a:r>
            <a:br/>
            <a:r>
              <a:t>the feasible operating region.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235440" y="2971800"/>
            <a:ext cx="7223760" cy="2377440"/>
          </a:xfrm>
          <a:prstGeom prst="round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418320" y="3108960"/>
            <a:ext cx="6858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C0392B"/>
                </a:solidFill>
                <a:latin typeface="Nanum Square"/>
              </a:defRPr>
            </a:pPr>
            <a:r>
              <a:t>No Physical Aerodynamic Load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418320" y="3520440"/>
            <a:ext cx="6858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999999"/>
                </a:solidFill>
                <a:latin typeface="Nanum Square"/>
              </a:defRPr>
            </a:pPr>
            <a:r>
              <a:t>공력 하중 미재현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418320" y="3931920"/>
            <a:ext cx="6858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2D2D2D"/>
                </a:solidFill>
                <a:latin typeface="Nanum Square"/>
              </a:defRPr>
            </a:pPr>
            <a:r>
              <a:t>The platform reproduces motion cues,</a:t>
            </a:r>
            <a:br/>
            <a:r>
              <a:t>not full external-force physics.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463040" y="5715000"/>
            <a:ext cx="7223760" cy="2377440"/>
          </a:xfrm>
          <a:prstGeom prst="round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45920" y="5852160"/>
            <a:ext cx="6858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C0392B"/>
                </a:solidFill>
                <a:latin typeface="Nanum Square"/>
              </a:defRPr>
            </a:pPr>
            <a:r>
              <a:t>Platform-Level Actuation Limits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45920" y="6263640"/>
            <a:ext cx="6858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999999"/>
                </a:solidFill>
                <a:latin typeface="Nanum Square"/>
              </a:defRPr>
            </a:pPr>
            <a:r>
              <a:t>플랫폼 구동 한계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45920" y="6675120"/>
            <a:ext cx="6858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2D2D2D"/>
                </a:solidFill>
                <a:latin typeface="Nanum Square"/>
              </a:defRPr>
            </a:pPr>
            <a:r>
              <a:t>Timing, hysteresis, and actuator</a:t>
            </a:r>
            <a:br/>
            <a:r>
              <a:t>constraints shape response fidelity.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235440" y="5715000"/>
            <a:ext cx="7223760" cy="2377440"/>
          </a:xfrm>
          <a:prstGeom prst="round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418320" y="5852160"/>
            <a:ext cx="6858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C0392B"/>
                </a:solidFill>
                <a:latin typeface="Nanum Square"/>
              </a:defRPr>
            </a:pPr>
            <a:r>
              <a:t>Not a Flight Replacement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18320" y="6263640"/>
            <a:ext cx="6858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999999"/>
                </a:solidFill>
                <a:latin typeface="Nanum Square"/>
              </a:defRPr>
            </a:pPr>
            <a:r>
              <a:t>비행 대체 불가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18320" y="6675120"/>
            <a:ext cx="6858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2D2D2D"/>
                </a:solidFill>
                <a:latin typeface="Nanum Square"/>
              </a:defRPr>
            </a:pPr>
            <a:r>
              <a:t>This platform complements conventional</a:t>
            </a:r>
            <a:br/>
            <a:r>
              <a:t>HILS and real flight testing.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441448" y="8046720"/>
            <a:ext cx="13405104" cy="1097280"/>
          </a:xfrm>
          <a:prstGeom prst="roundRect">
            <a:avLst/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807208" y="8412480"/>
            <a:ext cx="12673584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000000"/>
                </a:solidFill>
                <a:latin typeface="Nanum Square"/>
              </a:defRPr>
            </a:pPr>
            <a:r>
              <a:t>Correct claim: a practical, measurable, physically informed pre-flight validation layer.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642080" y="9646920"/>
            <a:ext cx="10972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>
                <a:solidFill>
                  <a:srgbClr val="666666"/>
                </a:solidFill>
                <a:latin typeface="Nanum Square"/>
              </a:defRPr>
            </a:pPr>
            <a:r>
              <a:t>10/12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CDCD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04672" y="758952"/>
            <a:ext cx="16669512" cy="86319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04672" y="758952"/>
            <a:ext cx="16669512" cy="1929384"/>
          </a:xfrm>
          <a:prstGeom prst="rect">
            <a:avLst/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882896" y="1371600"/>
            <a:ext cx="8513064" cy="6675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>
                <a:solidFill>
                  <a:srgbClr val="000000"/>
                </a:solidFill>
                <a:latin typeface="Nanum Square"/>
              </a:defRPr>
            </a:pPr>
            <a:r>
              <a:t>Takeaways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45920" y="3108960"/>
            <a:ext cx="6858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04AAD"/>
                </a:solidFill>
                <a:latin typeface="Nanum Square"/>
              </a:defRPr>
            </a:pPr>
            <a:r>
              <a:t>Key Results</a:t>
            </a:r>
          </a:p>
          <a:p>
            <a:pPr algn="l">
              <a:spcBef>
                <a:spcPts val="200"/>
              </a:spcBef>
              <a:defRPr sz="1600" b="0">
                <a:solidFill>
                  <a:srgbClr val="999999"/>
                </a:solidFill>
                <a:latin typeface="Nanum Square"/>
              </a:defRPr>
            </a:pPr>
            <a:r>
              <a:t>주요 성과</a:t>
            </a:r>
          </a:p>
          <a:p>
            <a:pPr algn="l">
              <a:spcBef>
                <a:spcPts val="1600"/>
              </a:spcBef>
              <a:defRPr sz="1800" b="0">
                <a:solidFill>
                  <a:srgbClr val="2D2D2D"/>
                </a:solidFill>
                <a:latin typeface="Nanum Square"/>
              </a:defRPr>
            </a:pPr>
            <a:r>
              <a:t>1.  Physically closed-loop HILS architecture</a:t>
            </a:r>
            <a:br/>
            <a:r>
              <a:t>implemented: X-Plane + Stewart + PX4.</a:t>
            </a:r>
          </a:p>
          <a:p>
            <a:pPr algn="l">
              <a:spcBef>
                <a:spcPts val="200"/>
              </a:spcBef>
              <a:defRPr sz="1400" b="0">
                <a:solidFill>
                  <a:srgbClr val="999999"/>
                </a:solidFill>
                <a:latin typeface="Nanum Square"/>
              </a:defRPr>
            </a:pPr>
            <a:r>
              <a:t>     물리적 폐루프 HILS 아키텍처 구현</a:t>
            </a:r>
          </a:p>
          <a:p>
            <a:pPr algn="l">
              <a:spcBef>
                <a:spcPts val="1600"/>
              </a:spcBef>
              <a:defRPr sz="1800" b="0">
                <a:solidFill>
                  <a:srgbClr val="2D2D2D"/>
                </a:solidFill>
                <a:latin typeface="Nanum Square"/>
              </a:defRPr>
            </a:pPr>
            <a:r>
              <a:t>2.  Closed-loop attitude tracking achieved</a:t>
            </a:r>
            <a:br/>
            <a:r>
              <a:t>and evaluated quantitatively.</a:t>
            </a:r>
          </a:p>
          <a:p>
            <a:pPr algn="l">
              <a:spcBef>
                <a:spcPts val="200"/>
              </a:spcBef>
              <a:defRPr sz="1400" b="0">
                <a:solidFill>
                  <a:srgbClr val="999999"/>
                </a:solidFill>
                <a:latin typeface="Nanum Square"/>
              </a:defRPr>
            </a:pPr>
            <a:r>
              <a:t>     폐루프 자세 추종 달성 및 정량 평가</a:t>
            </a:r>
          </a:p>
          <a:p>
            <a:pPr algn="l">
              <a:spcBef>
                <a:spcPts val="1600"/>
              </a:spcBef>
              <a:defRPr sz="1800" b="0">
                <a:solidFill>
                  <a:srgbClr val="2D2D2D"/>
                </a:solidFill>
                <a:latin typeface="Nanum Square"/>
              </a:defRPr>
            </a:pPr>
            <a:r>
              <a:t>3.  Bias and latency are measured and used</a:t>
            </a:r>
            <a:br/>
            <a:r>
              <a:t>to define the platform's true fidelity.</a:t>
            </a:r>
          </a:p>
          <a:p>
            <a:pPr algn="l">
              <a:spcBef>
                <a:spcPts val="200"/>
              </a:spcBef>
              <a:defRPr sz="1400" b="0">
                <a:solidFill>
                  <a:srgbClr val="999999"/>
                </a:solidFill>
                <a:latin typeface="Nanum Square"/>
              </a:defRPr>
            </a:pPr>
            <a:r>
              <a:t>     바이어스·지연 측정으로 실제 충실도 정의</a:t>
            </a:r>
          </a:p>
        </p:txBody>
      </p:sp>
      <p:sp>
        <p:nvSpPr>
          <p:cNvPr id="6" name="Rectangle 5"/>
          <p:cNvSpPr/>
          <p:nvPr/>
        </p:nvSpPr>
        <p:spPr>
          <a:xfrm>
            <a:off x="9006840" y="3200400"/>
            <a:ext cx="25400" cy="4572000"/>
          </a:xfrm>
          <a:prstGeom prst="rect">
            <a:avLst/>
          </a:prstGeom>
          <a:solidFill>
            <a:srgbClr val="004A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84080" y="3108960"/>
            <a:ext cx="6858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04AAD"/>
                </a:solidFill>
                <a:latin typeface="Nanum Square"/>
              </a:defRPr>
            </a:pPr>
            <a:r>
              <a:t>Next Steps</a:t>
            </a:r>
          </a:p>
          <a:p>
            <a:pPr algn="l">
              <a:spcBef>
                <a:spcPts val="200"/>
              </a:spcBef>
              <a:defRPr sz="1600" b="0">
                <a:solidFill>
                  <a:srgbClr val="999999"/>
                </a:solidFill>
                <a:latin typeface="Nanum Square"/>
              </a:defRPr>
            </a:pPr>
            <a:r>
              <a:t>향후 과제</a:t>
            </a:r>
          </a:p>
          <a:p>
            <a:pPr algn="l">
              <a:spcBef>
                <a:spcPts val="1600"/>
              </a:spcBef>
              <a:defRPr sz="1800" b="0">
                <a:solidFill>
                  <a:srgbClr val="2D2D2D"/>
                </a:solidFill>
                <a:latin typeface="Nanum Square"/>
              </a:defRPr>
            </a:pPr>
            <a:r>
              <a:t>→  Time-aligned error analysis</a:t>
            </a:r>
          </a:p>
          <a:p>
            <a:pPr algn="l">
              <a:spcBef>
                <a:spcPts val="200"/>
              </a:spcBef>
              <a:defRPr sz="1400" b="0">
                <a:solidFill>
                  <a:srgbClr val="999999"/>
                </a:solidFill>
                <a:latin typeface="Nanum Square"/>
              </a:defRPr>
            </a:pPr>
            <a:r>
              <a:t>    시간 정렬 기반 오차 분석</a:t>
            </a:r>
          </a:p>
          <a:p>
            <a:pPr algn="l">
              <a:spcBef>
                <a:spcPts val="1600"/>
              </a:spcBef>
              <a:defRPr sz="1800" b="0">
                <a:solidFill>
                  <a:srgbClr val="2D2D2D"/>
                </a:solidFill>
                <a:latin typeface="Nanum Square"/>
              </a:defRPr>
            </a:pPr>
            <a:r>
              <a:t>→  Repeatability / hysteresis</a:t>
            </a:r>
            <a:br/>
            <a:r>
              <a:t>characterization</a:t>
            </a:r>
          </a:p>
          <a:p>
            <a:pPr algn="l">
              <a:spcBef>
                <a:spcPts val="200"/>
              </a:spcBef>
              <a:defRPr sz="1400" b="0">
                <a:solidFill>
                  <a:srgbClr val="999999"/>
                </a:solidFill>
                <a:latin typeface="Nanum Square"/>
              </a:defRPr>
            </a:pPr>
            <a:r>
              <a:t>    반복성·히스테리시스 특성 분석</a:t>
            </a:r>
          </a:p>
          <a:p>
            <a:pPr algn="l">
              <a:spcBef>
                <a:spcPts val="1600"/>
              </a:spcBef>
              <a:defRPr sz="1800" b="0">
                <a:solidFill>
                  <a:srgbClr val="2D2D2D"/>
                </a:solidFill>
                <a:latin typeface="Nanum Square"/>
              </a:defRPr>
            </a:pPr>
            <a:r>
              <a:t>→  Stress tests near workspace</a:t>
            </a:r>
            <a:br/>
            <a:r>
              <a:t>and saturation limits</a:t>
            </a:r>
          </a:p>
          <a:p>
            <a:pPr algn="l">
              <a:spcBef>
                <a:spcPts val="200"/>
              </a:spcBef>
              <a:defRPr sz="1400" b="0">
                <a:solidFill>
                  <a:srgbClr val="999999"/>
                </a:solidFill>
                <a:latin typeface="Nanum Square"/>
              </a:defRPr>
            </a:pPr>
            <a:r>
              <a:t>    작업 영역·포화 한계 스트레스 시험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441448" y="8046720"/>
            <a:ext cx="13405104" cy="1097280"/>
          </a:xfrm>
          <a:prstGeom prst="roundRect">
            <a:avLst/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07208" y="8412480"/>
            <a:ext cx="12673584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000000"/>
                </a:solidFill>
                <a:latin typeface="Nanum Square"/>
              </a:defRPr>
            </a:pPr>
            <a:r>
              <a:t>This platform fills part of the gap between software-only HILS and real flight testing.</a:t>
            </a:r>
          </a:p>
          <a:p>
            <a:pPr algn="ctr">
              <a:spcBef>
                <a:spcPts val="1200"/>
              </a:spcBef>
              <a:defRPr sz="2200" b="1">
                <a:solidFill>
                  <a:srgbClr val="004AAD"/>
                </a:solidFill>
                <a:latin typeface="Nanum Square"/>
              </a:defRPr>
            </a:pPr>
            <a:r>
              <a:t>Thank you — Questions welcome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42080" y="9646920"/>
            <a:ext cx="10972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>
                <a:solidFill>
                  <a:srgbClr val="666666"/>
                </a:solidFill>
                <a:latin typeface="Nanum Square"/>
              </a:defRPr>
            </a:pPr>
            <a:r>
              <a:t>11/12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CDCD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04672" y="758952"/>
            <a:ext cx="16669512" cy="86319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04672" y="758952"/>
            <a:ext cx="16669512" cy="1929384"/>
          </a:xfrm>
          <a:prstGeom prst="rect">
            <a:avLst/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882896" y="1371600"/>
            <a:ext cx="8513064" cy="6675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>
                <a:solidFill>
                  <a:srgbClr val="000000"/>
                </a:solidFill>
                <a:latin typeface="Nanum Square"/>
              </a:defRPr>
            </a:pPr>
            <a:r>
              <a:t>Backup: Anticipated Questions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63040" y="2926080"/>
            <a:ext cx="6858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004AAD"/>
                </a:solidFill>
                <a:latin typeface="Nanum Square"/>
              </a:defRPr>
            </a:pPr>
            <a:r>
              <a:t>"Why z=+20 mm as the neutral position?"</a:t>
            </a:r>
          </a:p>
        </p:txBody>
      </p:sp>
      <p:pic>
        <p:nvPicPr>
          <p:cNvPr id="6" name="Picture 5" descr="rot_worst_vs_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3566160"/>
            <a:ext cx="5486400" cy="30861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645920" y="7589520"/>
            <a:ext cx="5943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200"/>
              </a:lnSpc>
              <a:defRPr sz="1600">
                <a:solidFill>
                  <a:srgbClr val="2D2D2D"/>
                </a:solidFill>
                <a:latin typeface="Nanum Square"/>
              </a:defRPr>
            </a:pPr>
            <a:r>
              <a:t>z=+20 mm → ~20° rotation range</a:t>
            </a:r>
            <a:br/>
            <a:r>
              <a:t>z=0 mm → ~10° (insufficient for ±5° test)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2926080"/>
            <a:ext cx="34747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04AAD"/>
                </a:solidFill>
                <a:latin typeface="Nanum Square"/>
              </a:defRPr>
            </a:pPr>
            <a:r>
              <a:t>"Why not conventional HILS?"</a:t>
            </a:r>
          </a:p>
          <a:p>
            <a:pPr algn="l">
              <a:spcBef>
                <a:spcPts val="400"/>
              </a:spcBef>
              <a:defRPr sz="1100" b="0">
                <a:solidFill>
                  <a:srgbClr val="2D2D2D"/>
                </a:solidFill>
                <a:latin typeface="Nanum Square"/>
              </a:defRPr>
            </a:pPr>
            <a:r>
              <a:t>Real inertial excitation that sensor synthesis</a:t>
            </a:r>
            <a:br/>
            <a:r>
              <a:t>cannot provide. → Slides 3 + 10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0" y="2926080"/>
            <a:ext cx="34747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04AAD"/>
                </a:solidFill>
                <a:latin typeface="Nanum Square"/>
              </a:defRPr>
            </a:pPr>
            <a:r>
              <a:t>"How do you handle saturation?"</a:t>
            </a:r>
          </a:p>
          <a:p>
            <a:pPr algn="l">
              <a:spcBef>
                <a:spcPts val="400"/>
              </a:spcBef>
              <a:defRPr sz="1100" b="0">
                <a:solidFill>
                  <a:srgbClr val="2D2D2D"/>
                </a:solidFill>
                <a:latin typeface="Nanum Square"/>
              </a:defRPr>
            </a:pPr>
            <a:r>
              <a:t>Baseline ±5° out of ~20° available.</a:t>
            </a:r>
            <a:br/>
            <a:r>
              <a:t>Stress tests planned. → Sl 6+10+11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4251960"/>
            <a:ext cx="34747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04AAD"/>
                </a:solidFill>
                <a:latin typeface="Nanum Square"/>
              </a:defRPr>
            </a:pPr>
            <a:r>
              <a:t>"Effective bandwidth?"</a:t>
            </a:r>
          </a:p>
          <a:p>
            <a:pPr algn="l">
              <a:spcBef>
                <a:spcPts val="400"/>
              </a:spcBef>
              <a:defRPr sz="1100" b="0">
                <a:solidFill>
                  <a:srgbClr val="2D2D2D"/>
                </a:solidFill>
                <a:latin typeface="Nanum Square"/>
              </a:defRPr>
            </a:pPr>
            <a:r>
              <a:t>~50 Hz tick, E2E latency ~51 ms.</a:t>
            </a:r>
            <a:br/>
            <a:r>
              <a:t>Low-freq suited. → Sl 5+9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0" y="4251960"/>
            <a:ext cx="34747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04AAD"/>
                </a:solidFill>
                <a:latin typeface="Nanum Square"/>
              </a:defRPr>
            </a:pPr>
            <a:r>
              <a:t>"Open-loop platform — pose accuracy?"</a:t>
            </a:r>
          </a:p>
          <a:p>
            <a:pPr algn="l">
              <a:spcBef>
                <a:spcPts val="400"/>
              </a:spcBef>
              <a:defRPr sz="1100" b="0">
                <a:solidFill>
                  <a:srgbClr val="2D2D2D"/>
                </a:solidFill>
                <a:latin typeface="Nanum Square"/>
              </a:defRPr>
            </a:pPr>
            <a:r>
              <a:t>No encoder feedback. PX4 IMU only</a:t>
            </a:r>
            <a:br/>
            <a:r>
              <a:t>physical measurement. → Sl 10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0" y="5577840"/>
            <a:ext cx="34747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04AAD"/>
                </a:solidFill>
                <a:latin typeface="Nanum Square"/>
              </a:defRPr>
            </a:pPr>
            <a:r>
              <a:t>"What is mounting bias?"</a:t>
            </a:r>
          </a:p>
          <a:p>
            <a:pPr algn="l">
              <a:spcBef>
                <a:spcPts val="400"/>
              </a:spcBef>
              <a:defRPr sz="1100" b="0">
                <a:solidFill>
                  <a:srgbClr val="2D2D2D"/>
                </a:solidFill>
                <a:latin typeface="Nanum Square"/>
              </a:defRPr>
            </a:pPr>
            <a:r>
              <a:t>~1.8° from FC alignment. Stable</a:t>
            </a:r>
            <a:br/>
            <a:r>
              <a:t>(σ≈0.2°), calibrated. → Sl 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0" y="5577840"/>
            <a:ext cx="34747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04AAD"/>
                </a:solidFill>
                <a:latin typeface="Nanum Square"/>
              </a:defRPr>
            </a:pPr>
            <a:r>
              <a:t>"How repeatable across runs?"</a:t>
            </a:r>
          </a:p>
          <a:p>
            <a:pPr algn="l">
              <a:spcBef>
                <a:spcPts val="400"/>
              </a:spcBef>
              <a:defRPr sz="1100" b="0">
                <a:solidFill>
                  <a:srgbClr val="2D2D2D"/>
                </a:solidFill>
                <a:latin typeface="Nanum Square"/>
              </a:defRPr>
            </a:pPr>
            <a:r>
              <a:t>5 runs: σ≈0.2° intra, Δ≤0.8° inter.</a:t>
            </a:r>
            <a:br/>
            <a:r>
              <a:t>→ Slides 8+11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0" y="6903720"/>
            <a:ext cx="34747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04AAD"/>
                </a:solidFill>
                <a:latin typeface="Nanum Square"/>
              </a:defRPr>
            </a:pPr>
            <a:r>
              <a:t>"Extend to quadrotors?"</a:t>
            </a:r>
          </a:p>
          <a:p>
            <a:pPr algn="l">
              <a:spcBef>
                <a:spcPts val="400"/>
              </a:spcBef>
              <a:defRPr sz="1100" b="0">
                <a:solidFill>
                  <a:srgbClr val="2D2D2D"/>
                </a:solidFill>
                <a:latin typeface="Nanum Square"/>
              </a:defRPr>
            </a:pPr>
            <a:r>
              <a:t>Vehicle-agnostic architecture.</a:t>
            </a:r>
            <a:br/>
            <a:r>
              <a:t>Only model + PID change. → Sl 11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642080" y="9646920"/>
            <a:ext cx="10972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>
                <a:solidFill>
                  <a:srgbClr val="666666"/>
                </a:solidFill>
                <a:latin typeface="Nanum Square"/>
              </a:defRPr>
            </a:pPr>
            <a:r>
              <a:t>12/12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DAHELYcEp6c</dc:identifier>
  <dcterms:modified xsi:type="dcterms:W3CDTF">2011-08-01T06:04:30Z</dcterms:modified>
  <cp:revision>1</cp:revision>
  <dc:title>파란색 배경 현대적인 프로젝트 프레젠테이션</dc:title>
</cp:coreProperties>
</file>