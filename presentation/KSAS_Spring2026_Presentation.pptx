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365760"/>
          <a:lstStyle/>
          <a:p>
            <a:pPr algn="ctr">
              <a:lnSpc>
                <a:spcPts val="4000"/>
              </a:lnSpc>
              <a:defRPr sz="3200" b="1">
                <a:solidFill>
                  <a:srgbClr val="FFFFFF"/>
                </a:solidFill>
              </a:defRPr>
            </a:pPr>
            <a:r>
              <a:t>Physically Closed-Loop HILS for</a:t>
            </a:r>
            <a:br/>
            <a:r>
              <a:t>Flight Attitude-Control Validation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D6EEF5"/>
                </a:solidFill>
              </a:defRPr>
            </a:pPr>
            <a:r>
              <a:t>Using a Stewart Platform with X-Plane and PX4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99999"/>
                </a:solidFill>
              </a:defRPr>
            </a:pPr>
            <a:r>
              <a:t>스튜어트 플랫폼 · X-Plane · PX4 연동 기반 비행체 자세제어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697480"/>
            <a:ext cx="6858000" cy="1188720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/>
          <a:lstStyle/>
          <a:p>
            <a:pPr algn="l">
              <a:defRPr sz="1400" b="1">
                <a:solidFill>
                  <a:srgbClr val="1B6B93"/>
                </a:solidFill>
              </a:defRPr>
            </a:pPr>
            <a:r>
              <a:t>X-Plane drives real platform motion → PX4 senses that motion physically → measured attitude closes the loop.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999999"/>
                </a:solidFill>
              </a:defRPr>
            </a:pPr>
            <a:r>
              <a:t>X-Plane → 실제 모션 구동 → PX4 물리적 감지 → 측정 자세로 폐루프 완성</a:t>
            </a:r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606040"/>
            <a:ext cx="3931920" cy="26802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206240"/>
            <a:ext cx="3474720" cy="411480"/>
          </a:xfrm>
          <a:prstGeom prst="roundRect">
            <a:avLst/>
          </a:prstGeom>
          <a:solidFill>
            <a:srgbClr val="FA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Beyond sensor-synthesis-only HILS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defRPr sz="1400" b="1">
                <a:solidFill>
                  <a:srgbClr val="555555"/>
                </a:solidFill>
              </a:defRPr>
            </a:pPr>
            <a:r>
              <a:t>Spring 2026 KSAS Conference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2026 춘계 항공우주학회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555555"/>
                </a:solidFill>
              </a:defRPr>
            </a:pPr>
            <a:r>
              <a:t>[Author Name] — [Affiliation]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Add Physical Motion to HILS?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왜 HILS에 물리적 모션이 필요한가?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29200" cy="3474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 rIns="152400"/>
          <a:lstStyle/>
          <a:p>
            <a:pPr algn="ctr">
              <a:defRPr sz="2000" b="1">
                <a:solidFill>
                  <a:srgbClr val="555555"/>
                </a:solidFill>
              </a:defRPr>
            </a:pPr>
            <a:r>
              <a:t>Conventional HILS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기존 HILS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Simulator computes dynamics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시뮬레이터가 동역학 계산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Controller receives synthetic sensor signals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합성 센서 신호 수신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Attitude evaluated via logs / screens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로그/화면으로만 자세 확인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IMU does not experience real inertial motion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IMU가 실제 관성 운동 미경험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417320"/>
            <a:ext cx="5029200" cy="347472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1B6B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 rIns="152400"/>
          <a:lstStyle/>
          <a:p>
            <a:pPr algn="ctr">
              <a:defRPr sz="2000" b="1">
                <a:solidFill>
                  <a:srgbClr val="1B6B93"/>
                </a:solidFill>
              </a:defRPr>
            </a:pPr>
            <a:r>
              <a:t>This Work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본 연구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Simulator drives real Stewart platform motion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실제 플랫폼 모션 구동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PX4 IMU senses real inertial excitation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PX4 IMU 실제 관성 자극 감지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Measured attitude fed back into control loop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측정 자세 → 제어 루프 피드백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•  Timing and fidelity quantitatively measured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타이밍·충실도 정량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169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Can a physically closed loop remain stable, repeatable, and quantitatively explainable?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New Here?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본 연구의 차별점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11535" cy="1051560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7000"/>
          <a:lstStyle/>
          <a:p>
            <a:pPr algn="ctr">
              <a:defRPr sz="1800" b="1">
                <a:solidFill>
                  <a:srgbClr val="1B6B93"/>
                </a:solidFill>
              </a:defRPr>
            </a:pPr>
            <a:r>
              <a:t>Closed-loop feedback uses attitude estimated from real IMU motion, not only simulated sensor values.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99999"/>
                </a:solidFill>
              </a:defRPr>
            </a:pPr>
            <a:r>
              <a:t>폐루프 피드백이 실제 IMU 운동으로부터 추정된 자세를 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34290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1800" b="1">
                <a:solidFill>
                  <a:srgbClr val="1B6B93"/>
                </a:solidFill>
              </a:defRPr>
            </a:pPr>
            <a:r>
              <a:t>Realized Motion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모션 구현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Simulator attitude is converted into</a:t>
            </a:r>
            <a:br/>
            <a:r>
              <a:t>Stewart-platform motion.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시뮬레이터 자세 → 플랫폼 물리 모션</a:t>
            </a:r>
          </a:p>
        </p:txBody>
      </p:sp>
      <p:sp>
        <p:nvSpPr>
          <p:cNvPr id="5" name="Oval 4"/>
          <p:cNvSpPr/>
          <p:nvPr/>
        </p:nvSpPr>
        <p:spPr>
          <a:xfrm>
            <a:off x="3703320" y="285292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743200"/>
            <a:ext cx="34290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1800" b="1">
                <a:solidFill>
                  <a:srgbClr val="1B6B93"/>
                </a:solidFill>
              </a:defRPr>
            </a:pPr>
            <a:r>
              <a:t>Physical Sensing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물리적 센싱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PX4 IMU and estimator respond to</a:t>
            </a:r>
            <a:br/>
            <a:r>
              <a:t>real inertial excitation.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PX4 IMU가 실제 관성 자극에 반응</a:t>
            </a:r>
          </a:p>
        </p:txBody>
      </p:sp>
      <p:sp>
        <p:nvSpPr>
          <p:cNvPr id="7" name="Oval 6"/>
          <p:cNvSpPr/>
          <p:nvPr/>
        </p:nvSpPr>
        <p:spPr>
          <a:xfrm>
            <a:off x="7452360" y="285292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743200"/>
            <a:ext cx="3429000" cy="19202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1800" b="1">
                <a:solidFill>
                  <a:srgbClr val="1B6B93"/>
                </a:solidFill>
              </a:defRPr>
            </a:pPr>
            <a:r>
              <a:t>Closed-Loop Return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폐루프 귀환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Measured attitude is sent back into</a:t>
            </a:r>
            <a:br/>
            <a:r>
              <a:t>the host control loop.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측정 자세가 호스트 제어 루프로 귀환</a:t>
            </a:r>
          </a:p>
        </p:txBody>
      </p:sp>
      <p:sp>
        <p:nvSpPr>
          <p:cNvPr id="9" name="Oval 8"/>
          <p:cNvSpPr/>
          <p:nvPr/>
        </p:nvSpPr>
        <p:spPr>
          <a:xfrm>
            <a:off x="11201400" y="285292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10911535" cy="640080"/>
          </a:xfrm>
          <a:prstGeom prst="round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This is a complementary validation layer, not a full aerodynamic flight replacement.</a:t>
            </a:r>
          </a:p>
          <a:p>
            <a:pPr algn="ctr">
              <a:spcBef>
                <a:spcPts val="200"/>
              </a:spcBef>
              <a:defRPr sz="1100" b="0">
                <a:solidFill>
                  <a:srgbClr val="999999"/>
                </a:solidFill>
              </a:defRPr>
            </a:pPr>
            <a:r>
              <a:t>보완적 검증 계층이며, 공력 비행을 완전히 대체하지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System in Action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시스템 구동 장면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3657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0" lIns="177800"/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[Insert hardware photo]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999999"/>
                </a:solidFill>
              </a:defRPr>
            </a:pPr>
            <a:r>
              <a:t>스튜어트 플랫폼 + PX4 탑재 사진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029200" cy="3657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80160" lIns="177800"/>
          <a:lstStyle/>
          <a:p>
            <a:pPr algn="ctr">
              <a:defRPr sz="1600" b="0">
                <a:solidFill>
                  <a:srgbClr val="555555"/>
                </a:solidFill>
              </a:defRPr>
            </a:pPr>
            <a:r>
              <a:t>[Insert demo video]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999999"/>
                </a:solidFill>
              </a:defRPr>
            </a:pPr>
            <a:r>
              <a:t>Trim transition 시나리오 구동 영상 (5–8 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6B93"/>
                </a:solidFill>
              </a:defRPr>
            </a:pPr>
            <a:r>
              <a:t>X-Plane sim attitude → Stewart platform physical motion → PX4 IMU sensing → closed-loop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the Physical Closed Loop Works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물리적 폐루프의 작동 원리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132320" cy="4861764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20094" y="2100653"/>
            <a:ext cx="347472" cy="34747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lIns="0" r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716776" y="3573915"/>
            <a:ext cx="347472" cy="34747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lIns="0" r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3316649" y="4743858"/>
            <a:ext cx="347472" cy="34747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lIns="0" r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696485" y="3487252"/>
            <a:ext cx="347472" cy="34747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lIns="0" rIns="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7955279" y="1371600"/>
            <a:ext cx="365760" cy="365760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199" y="1346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212121"/>
                </a:solidFill>
              </a:defRPr>
            </a:pPr>
            <a:r>
              <a:t>X-Plane publishes vehicle state</a:t>
            </a:r>
            <a:br/>
            <a:r>
              <a:t>to the Python host over UDP.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99999"/>
                </a:solidFill>
              </a:defRPr>
            </a:pPr>
            <a:r>
              <a:t>X-Plane → UDP → Python 호스트</a:t>
            </a:r>
          </a:p>
        </p:txBody>
      </p:sp>
      <p:sp>
        <p:nvSpPr>
          <p:cNvPr id="10" name="Oval 9"/>
          <p:cNvSpPr/>
          <p:nvPr/>
        </p:nvSpPr>
        <p:spPr>
          <a:xfrm>
            <a:off x="7955279" y="2514600"/>
            <a:ext cx="365760" cy="365760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199" y="2489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212121"/>
                </a:solidFill>
              </a:defRPr>
            </a:pPr>
            <a:r>
              <a:t>Host converts state to pose</a:t>
            </a:r>
            <a:br/>
            <a:r>
              <a:t>commands for the Stewart platform.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99999"/>
                </a:solidFill>
              </a:defRPr>
            </a:pPr>
            <a:r>
              <a:t>호스트 → pose 명령 → 스튜어트 플랫폼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3657600"/>
            <a:ext cx="365760" cy="365760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3632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212121"/>
                </a:solidFill>
              </a:defRPr>
            </a:pPr>
            <a:r>
              <a:t>PX4 physically senses platform</a:t>
            </a:r>
            <a:br/>
            <a:r>
              <a:t>motion through its onboard IMU.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99999"/>
                </a:solidFill>
              </a:defRPr>
            </a:pPr>
            <a:r>
              <a:t>PX4 IMU가 플랫폼 모션을 물리적으로 감지</a:t>
            </a:r>
          </a:p>
        </p:txBody>
      </p:sp>
      <p:sp>
        <p:nvSpPr>
          <p:cNvPr id="14" name="Oval 13"/>
          <p:cNvSpPr/>
          <p:nvPr/>
        </p:nvSpPr>
        <p:spPr>
          <a:xfrm>
            <a:off x="7955279" y="4800600"/>
            <a:ext cx="365760" cy="365760"/>
          </a:xfrm>
          <a:prstGeom prst="ellipse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4775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300">
                <a:solidFill>
                  <a:srgbClr val="212121"/>
                </a:solidFill>
              </a:defRPr>
            </a:pPr>
            <a:r>
              <a:t>PX4 attitude returns to host;</a:t>
            </a:r>
            <a:br/>
            <a:r>
              <a:t>host injects control into X-Plane.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999999"/>
                </a:solidFill>
              </a:defRPr>
            </a:pPr>
            <a:r>
              <a:t>PX4 자세 → 호스트 → X-Plane 제어 주입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77724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The loop is closed across software, mechanics, sensing, and control I/O.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Tested and How We Measured It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실험 시나리오 및 측정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20640" cy="374903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2000" b="1">
                <a:solidFill>
                  <a:srgbClr val="1B6B93"/>
                </a:solidFill>
              </a:defRPr>
            </a:pPr>
            <a:r>
              <a:t>Baseline Scenario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기본 실험 시나리오</a:t>
            </a:r>
          </a:p>
          <a:p>
            <a:pPr algn="l">
              <a:spcBef>
                <a:spcPts val="1400"/>
              </a:spcBef>
              <a:defRPr sz="1500" b="1">
                <a:solidFill>
                  <a:srgbClr val="212121"/>
                </a:solidFill>
              </a:defRPr>
            </a:pPr>
            <a:r>
              <a:t>Pitch trim transition:</a:t>
            </a:r>
          </a:p>
          <a:p>
            <a:pPr algn="l">
              <a:spcBef>
                <a:spcPts val="400"/>
              </a:spcBef>
              <a:defRPr sz="1800" b="1">
                <a:solidFill>
                  <a:srgbClr val="1B6B93"/>
                </a:solidFill>
              </a:defRPr>
            </a:pPr>
            <a:r>
              <a:t>0° → +5° → hold → 0°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212121"/>
                </a:solidFill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212121"/>
                </a:solidFill>
              </a:defRPr>
            </a:pPr>
            <a:r>
              <a:t>•  Each run starts from the same</a:t>
            </a:r>
            <a:br/>
            <a:r>
              <a:t>simulator initial condition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매 실험 동일 초기 조건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212121"/>
                </a:solidFill>
              </a:defRPr>
            </a:pPr>
            <a:r>
              <a:t>•  Repeated multiple times for statistics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통계 확보를 위해 반복 수행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212121"/>
                </a:solidFill>
              </a:defRPr>
            </a:pPr>
            <a:r>
              <a:t>•  Platform neutral at z=+20 mm</a:t>
            </a:r>
            <a:br/>
            <a:r>
              <a:t>to maximize rotation range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회전 범위 극대화를 위해 z=+20 mm 기본 자세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212121"/>
                </a:solidFill>
              </a:defRPr>
            </a:pPr>
            <a:r>
              <a:t>•  Baseline runs stay inside workspace</a:t>
            </a:r>
            <a:br/>
            <a:r>
              <a:t>(nominal behavior, not saturation)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작업 영역 내 정상 거동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17320"/>
            <a:ext cx="5120640" cy="374903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2000" b="1">
                <a:solidFill>
                  <a:srgbClr val="1B6B93"/>
                </a:solidFill>
              </a:defRPr>
            </a:pPr>
            <a:r>
              <a:t>Logged Signals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기록 신호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12121"/>
                </a:solidFill>
              </a:defRPr>
            </a:pPr>
            <a:r>
              <a:t>•  X-Plane attitude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X-Plane 자세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12121"/>
                </a:solidFill>
              </a:defRPr>
            </a:pPr>
            <a:r>
              <a:t>•  PX4 attitude estimate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PX4 자세 추정값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12121"/>
                </a:solidFill>
              </a:defRPr>
            </a:pPr>
            <a:r>
              <a:t>•  Platform pose command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플랫폼 pose 명령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12121"/>
                </a:solidFill>
              </a:defRPr>
            </a:pPr>
            <a:r>
              <a:t>•  ACK timing and host timestamps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ACK 타이밍 및 타임스탬프</a:t>
            </a:r>
          </a:p>
          <a:p>
            <a:pPr algn="l">
              <a:spcBef>
                <a:spcPts val="800"/>
              </a:spcBef>
              <a:defRPr sz="600" b="0">
                <a:solidFill>
                  <a:srgbClr val="212121"/>
                </a:solidFill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1B6B93"/>
                </a:solidFill>
              </a:defRPr>
            </a:pPr>
            <a:r>
              <a:t>Extracted Metrics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추출 메트릭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212121"/>
                </a:solidFill>
              </a:defRPr>
            </a:pPr>
            <a:r>
              <a:t>•  Tracking error (raw)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추종 오차 (원시)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212121"/>
                </a:solidFill>
              </a:defRPr>
            </a:pPr>
            <a:r>
              <a:t>•  Bias-corrected tracking error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바이어스 보정 추종 오차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212121"/>
                </a:solidFill>
              </a:defRPr>
            </a:pPr>
            <a:r>
              <a:t>•  Sample age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212121"/>
                </a:solidFill>
              </a:defRPr>
            </a:pPr>
            <a:r>
              <a:t>•  Serial RTT / end-to-end delay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    종단간 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 1: Closed-Loop Tracking Is Achieved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결과 1: 폐루프 자세 추종 달성</a:t>
            </a:r>
          </a:p>
        </p:txBody>
      </p:sp>
      <p:pic>
        <p:nvPicPr>
          <p:cNvPr id="3" name="Picture 2" descr="Fig2_Pitch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772400" cy="317961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78240" y="1645920"/>
            <a:ext cx="3017520" cy="1188720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0">
                <a:solidFill>
                  <a:srgbClr val="1B6B93"/>
                </a:solidFill>
              </a:defRPr>
            </a:pPr>
            <a:r>
              <a:t>PX4 follows the step response</a:t>
            </a:r>
            <a:br/>
            <a:r>
              <a:t>with consistent phase lag.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999999"/>
                </a:solidFill>
              </a:defRPr>
            </a:pPr>
            <a:r>
              <a:t>일관된 위상 지연으로 스텝 응답 추종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108960"/>
            <a:ext cx="3017520" cy="1188720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l">
              <a:defRPr sz="1400" b="0">
                <a:solidFill>
                  <a:srgbClr val="1B6B93"/>
                </a:solidFill>
              </a:defRPr>
            </a:pPr>
            <a:r>
              <a:t>Residual offset is structured —</a:t>
            </a:r>
            <a:br/>
            <a:r>
              <a:t>explainable bias, not instability.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999999"/>
                </a:solidFill>
              </a:defRPr>
            </a:pPr>
            <a:r>
              <a:t>잔여 오프셋은 불안정이 아닌 설명 가능한 바이어스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03520"/>
            <a:ext cx="10911535" cy="731520"/>
          </a:xfrm>
          <a:prstGeom prst="round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16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The platform reproduces commanded attitude transitions well enough for quantitative closed-loop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 2: Residual Error Is Interpretable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결과 2: 잔여 오차의 해석</a:t>
            </a:r>
          </a:p>
        </p:txBody>
      </p:sp>
      <p:pic>
        <p:nvPicPr>
          <p:cNvPr id="3" name="Picture 2" descr="Fig3_Pitch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2024980"/>
          </a:xfrm>
          <a:prstGeom prst="rect">
            <a:avLst/>
          </a:prstGeom>
        </p:spPr>
      </p:pic>
      <p:pic>
        <p:nvPicPr>
          <p:cNvPr id="4" name="Picture 3" descr="Fig4_MountingBias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303520" cy="30856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Bias correction moves the error distribution closer to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4572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Firm-mounted run shows stable offset consistent with mounting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12080"/>
            <a:ext cx="1219169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The dominant residual is not random instability — a fixed bias must be separated from dynamic tracking fidelity.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 3: Latency Sets the Fidelity Limit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결과 3: 지연 시간이 충실도의 한계를 결정</a:t>
            </a:r>
          </a:p>
        </p:txBody>
      </p:sp>
      <p:pic>
        <p:nvPicPr>
          <p:cNvPr id="3" name="Picture 2" descr="Fig5a_Latenc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2319251"/>
          </a:xfrm>
          <a:prstGeom prst="rect">
            <a:avLst/>
          </a:prstGeom>
        </p:spPr>
      </p:pic>
      <p:pic>
        <p:nvPicPr>
          <p:cNvPr id="4" name="Picture 3" descr="Fig5b_Latency_Distribution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23142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663440"/>
            <a:ext cx="3017520" cy="384048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200" b="1">
                <a:solidFill>
                  <a:srgbClr val="1B6B93"/>
                </a:solidFill>
              </a:defRPr>
            </a:pPr>
            <a:r>
              <a:t>Serial RTT mean ≈ 22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4663440"/>
            <a:ext cx="3017520" cy="384048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200" b="1">
                <a:solidFill>
                  <a:srgbClr val="1B6B93"/>
                </a:solidFill>
              </a:defRPr>
            </a:pPr>
            <a:r>
              <a:t>PX4 rx→ACK mean ≈ 41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663440"/>
            <a:ext cx="3017520" cy="384048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50800"/>
          <a:lstStyle/>
          <a:p>
            <a:pPr algn="ctr">
              <a:defRPr sz="1200" b="1">
                <a:solidFill>
                  <a:srgbClr val="1B6B93"/>
                </a:solidFill>
              </a:defRPr>
            </a:pPr>
            <a:r>
              <a:t>X-Plane rx→ACK mean ≈ 51 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49240"/>
            <a:ext cx="12191695" cy="77724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Measured delay and jitter explain the phase lag and define the practical bandwidth of this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Baseline runs show near-zero saturation → nominal timing dominates.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This Platform Does Not Claim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본 플랫폼이 주장하지 않는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5120640" cy="1828800"/>
          </a:xfrm>
          <a:prstGeom prst="round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Finite Workspace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유한한 작업 영역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Large multi-axis commands reduce</a:t>
            </a:r>
            <a:br/>
            <a:r>
              <a:t>the feasible operating region.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대각도 다축 명령 시 구동 영역 축소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417320"/>
            <a:ext cx="5120640" cy="1828800"/>
          </a:xfrm>
          <a:prstGeom prst="round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No Physical Aerodynamic Load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공력 하중 미재현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The platform reproduces motion cues,</a:t>
            </a:r>
            <a:br/>
            <a:r>
              <a:t>not full external-force physics.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모션 큐 재현, 외력 물리 미구현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566160"/>
            <a:ext cx="5120640" cy="1828800"/>
          </a:xfrm>
          <a:prstGeom prst="round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Platform-Level Actuation Limits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플랫폼 구동 한계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Timing, hysteresis, and actuator constraints</a:t>
            </a:r>
            <a:br/>
            <a:r>
              <a:t>still shape response fidelity.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타이밍·히스테리시스가 응답 충실도에 영향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3566160"/>
            <a:ext cx="5120640" cy="1828800"/>
          </a:xfrm>
          <a:prstGeom prst="roundRect">
            <a:avLst/>
          </a:prstGeom>
          <a:solidFill>
            <a:srgbClr val="FAE5E3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77800" rIns="177800"/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Not a Flight Replacement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비행 대체 불가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212121"/>
                </a:solidFill>
              </a:defRPr>
            </a:pPr>
            <a:r>
              <a:t>This platform complements conventional</a:t>
            </a:r>
            <a:br/>
            <a:r>
              <a:t>HILS and real flight testing.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기존 HILS 및 실제 비행 시험을 보완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23560"/>
            <a:ext cx="12191695" cy="77724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Correct claim: a practical, measurable, physically informed pre-flight validation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Takeaways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결론 및 향후 과제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6400800" cy="4114800"/>
          </a:xfrm>
          <a:prstGeom prst="roundRect">
            <a:avLst/>
          </a:prstGeom>
          <a:solidFill>
            <a:srgbClr val="D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tIns="228600" rIns="177800"/>
          <a:lstStyle/>
          <a:p>
            <a:pPr algn="ctr">
              <a:defRPr sz="2000" b="1">
                <a:solidFill>
                  <a:srgbClr val="1B6B93"/>
                </a:solidFill>
              </a:defRPr>
            </a:pPr>
            <a:r>
              <a:t>Key Results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주요 성과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1.  Physically closed-loop HILS architecture</a:t>
            </a:r>
            <a:br/>
            <a:r>
              <a:t>implemented: X-Plane + Stewart + PX4.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 물리적 폐루프 HILS 아키텍처 구현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2.  Closed-loop attitude tracking achieved</a:t>
            </a:r>
            <a:br/>
            <a:r>
              <a:t>and evaluated quantitatively.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 폐루프 자세 추종 달성 및 정량 평가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3.  Bias and latency are measured and used</a:t>
            </a:r>
            <a:br/>
            <a:r>
              <a:t>to define the platform's true fidelity.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 바이어스·지연 측정으로 실제 충실도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417320"/>
            <a:ext cx="4206240" cy="4114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tIns="228600" rIns="177800"/>
          <a:lstStyle/>
          <a:p>
            <a:pPr algn="ctr">
              <a:defRPr sz="2000" b="1">
                <a:solidFill>
                  <a:srgbClr val="1B6B93"/>
                </a:solidFill>
              </a:defRPr>
            </a:pPr>
            <a:r>
              <a:t>Next Steps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999999"/>
                </a:solidFill>
              </a:defRPr>
            </a:pPr>
            <a:r>
              <a:t>향후 과제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→  Time-aligned error analysis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시간 정렬 기반 오차 분석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→  Repeatability / hysteresis</a:t>
            </a:r>
            <a:br/>
            <a:r>
              <a:t>characterization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반복성·히스테리시스 특성 분석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212121"/>
                </a:solidFill>
              </a:defRPr>
            </a:pPr>
            <a:r>
              <a:t>→  Stress tests near workspace</a:t>
            </a:r>
            <a:br/>
            <a:r>
              <a:t>and saturation limits</a:t>
            </a:r>
          </a:p>
          <a:p>
            <a:pPr algn="l">
              <a:spcBef>
                <a:spcPts val="100"/>
              </a:spcBef>
              <a:defRPr sz="1000" b="0">
                <a:solidFill>
                  <a:srgbClr val="999999"/>
                </a:solidFill>
              </a:defRPr>
            </a:pPr>
            <a:r>
              <a:t>    작업 영역·포화 한계 스트레스 시험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806440"/>
            <a:ext cx="12191695" cy="77724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rIns="640080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This platform fills part of the gap between software-only HILS and real flight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6B93"/>
                </a:solidFill>
              </a:defRPr>
            </a:pPr>
            <a:r>
              <a:t>Thank you — 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6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177800" bIns="50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Backup: Anticipated Questions</a:t>
            </a:r>
          </a:p>
          <a:p>
            <a:pPr>
              <a:spcBef>
                <a:spcPts val="200"/>
              </a:spcBef>
              <a:defRPr sz="1500">
                <a:solidFill>
                  <a:srgbClr val="A8D4E6"/>
                </a:solidFill>
              </a:defRPr>
            </a:pPr>
            <a:r>
              <a:t>예상 질문 대비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45720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52400" rIns="152400"/>
          <a:lstStyle/>
          <a:p>
            <a:pPr algn="ctr">
              <a:defRPr sz="1500" b="1">
                <a:solidFill>
                  <a:srgbClr val="1B6B93"/>
                </a:solidFill>
              </a:defRPr>
            </a:pPr>
            <a:r>
              <a:t>"Why z=+20 mm as the neutral position?"</a:t>
            </a:r>
          </a:p>
          <a:p>
            <a:pPr algn="l">
              <a:spcBef>
                <a:spcPts val="100"/>
              </a:spcBef>
              <a:defRPr sz="1100" b="0">
                <a:solidFill>
                  <a:srgbClr val="999999"/>
                </a:solidFill>
              </a:defRPr>
            </a:pPr>
            <a:r>
              <a:t>"왜 z=+20 mm을 기본 자세로 선택했는가?"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212121"/>
                </a:solidFill>
              </a:defRPr>
            </a:pPr>
          </a:p>
        </p:txBody>
      </p:sp>
      <p:pic>
        <p:nvPicPr>
          <p:cNvPr id="4" name="Picture 3" descr="rot_worst_vs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317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200">
                <a:solidFill>
                  <a:srgbClr val="212121"/>
                </a:solidFill>
              </a:defRPr>
            </a:pPr>
            <a:r>
              <a:t>z=+20 mm → ~20° rotation range</a:t>
            </a:r>
            <a:br/>
            <a:r>
              <a:t>z=0 mm → ~10° (insufficient for ±5° test with margin)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"Why not conventional HILS?"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Real inertial excitation that sensor synthesis</a:t>
            </a:r>
            <a:br/>
            <a:r>
              <a:t>cannot provide. → Slides 3 + 10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234440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"How do you handle saturation?"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Baseline ±5° out of ~20° available.</a:t>
            </a:r>
            <a:br/>
            <a:r>
              <a:t>Minimal saturation. Stress tests planned. → Sl 6+10+11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95728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"What about yaw?"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In the loop, but trim-transition excites pitch.</a:t>
            </a:r>
            <a:br/>
            <a:r>
              <a:t>Yaw bias handled, not focus here. → Slide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395728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"Effective bandwidth?"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~50 Hz tick, E2E latency ~51 ms. Suited for</a:t>
            </a:r>
            <a:br/>
            <a:r>
              <a:t>low-freq maneuvers; high-freq filtered. → Sl 5+9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557016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"Open-loop platform — pose accuracy?"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No encoder feedback on servos. PX4 IMU is</a:t>
            </a:r>
            <a:br/>
            <a:r>
              <a:t>only physical measurement. Honest limit. → Sl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557016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"What is mounting bias physically?"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~1.8° from FC alignment on top plate.</a:t>
            </a:r>
            <a:br/>
            <a:r>
              <a:t>Stable (σ≈0.2°), calibrated in post. → Slide 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718304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"How repeatable across runs?"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5 runs: intra-run σ≈0.2°, inter-run Δ≤0.8°.</a:t>
            </a:r>
            <a:br/>
            <a:r>
              <a:t>Thermal drift + re-seating. → Slides 8+11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718304"/>
            <a:ext cx="2560320" cy="10515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76200" bIns="50800"/>
          <a:lstStyle/>
          <a:p>
            <a:pPr algn="ctr">
              <a:defRPr sz="1000" b="1">
                <a:solidFill>
                  <a:srgbClr val="1B6B93"/>
                </a:solidFill>
              </a:defRPr>
            </a:pPr>
            <a:r>
              <a:t>"Extend to quadrotors?"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212121"/>
                </a:solidFill>
              </a:defRPr>
            </a:pPr>
            <a:r>
              <a:t>Architecture is vehicle-agnostic. Only X-Plane</a:t>
            </a:r>
            <a:br/>
            <a:r>
              <a:t>model + PID change. PX4 supports both. → Sl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