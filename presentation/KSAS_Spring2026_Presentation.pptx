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10"/>
    <p:sldId id="257" r:id="rId11"/>
    <p:sldId id="258" r:id="rId12"/>
    <p:sldId id="259" r:id="rId13"/>
    <p:sldId id="260" r:id="rId14"/>
    <p:sldId id="261" r:id="rId15"/>
    <p:sldId id="262" r:id="rId9"/>
    <p:sldId id="263" r:id="rId8"/>
    <p:sldId id="264" r:id="rId7"/>
    <p:sldId id="265" r:id="rId6"/>
    <p:sldId id="266" r:id="rId20"/>
    <p:sldId id="267" r:id="rId21"/>
  </p:sldIdLst>
  <p:sldSz cx="18288000" cy="10287000"/>
  <p:notesSz cx="6858000" cy="9144000"/>
  <p:embeddedFontLst>
    <p:embeddedFont>
      <p:font typeface="각진펜 Bold" charset="1" panose="020B0500000000000000"/>
      <p:regular r:id="rId16"/>
    </p:embeddedFont>
    <p:embeddedFont>
      <p:font typeface="Gotham Bold" charset="1" panose="00000000000000000000"/>
      <p:regular r:id="rId17"/>
    </p:embeddedFont>
    <p:embeddedFont>
      <p:font typeface="Nanum Square" charset="1" panose="020B0600000101010101"/>
      <p:regular r:id="rId18"/>
    </p:embeddedFont>
    <p:embeddedFont>
      <p:font typeface="Gotham" charset="1" panose="000000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0.xml"/><Relationship Id="rId7" Type="http://schemas.openxmlformats.org/officeDocument/2006/relationships/slide" Target="slides/slide9.xml"/><Relationship Id="rId8" Type="http://schemas.openxmlformats.org/officeDocument/2006/relationships/slide" Target="slides/slide8.xml"/><Relationship Id="rId9" Type="http://schemas.openxmlformats.org/officeDocument/2006/relationships/slide" Target="slides/slide7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11.xml"/><Relationship Id="rId21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1097280"/>
            <a:ext cx="14630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1">
                <a:solidFill>
                  <a:srgbClr val="004AAD"/>
                </a:solidFill>
              </a:defRPr>
            </a:pPr>
            <a:r>
              <a:t>PHYSICALLY CLOSED-LOOP HILS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828800"/>
            <a:ext cx="14630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6800"/>
              </a:lnSpc>
              <a:defRPr sz="5600" b="1">
                <a:solidFill>
                  <a:srgbClr val="000000"/>
                </a:solidFill>
              </a:defRPr>
            </a:pPr>
            <a:r>
              <a:t>Physically Closed-Loop HILS for</a:t>
            </a:r>
            <a:br/>
            <a:r>
              <a:t>Flight Attitude-Control Validation</a:t>
            </a:r>
          </a:p>
          <a:p>
            <a:pPr algn="ctr">
              <a:spcBef>
                <a:spcPts val="2400"/>
              </a:spcBef>
              <a:defRPr sz="2200" b="0">
                <a:solidFill>
                  <a:srgbClr val="666666"/>
                </a:solidFill>
              </a:defRPr>
            </a:pPr>
            <a:r>
              <a:t>Using a Stewart Platform with X-Plane and PX4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999999"/>
                </a:solidFill>
              </a:defRPr>
            </a:pPr>
            <a:r>
              <a:t>스튜어트 플랫폼 · X-Plane · PX4 연동 기반 비행체 자세제어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6400800"/>
            <a:ext cx="1463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0000"/>
                </a:solidFill>
              </a:defRPr>
            </a:pPr>
            <a:r>
              <a:t>Spring 2026 KSAS Conference</a:t>
            </a:r>
          </a:p>
          <a:p>
            <a:pPr algn="ctr">
              <a:spcBef>
                <a:spcPts val="600"/>
              </a:spcBef>
              <a:defRPr sz="1800" b="0">
                <a:solidFill>
                  <a:srgbClr val="666666"/>
                </a:solidFill>
              </a:defRPr>
            </a:pPr>
            <a:r>
              <a:t>[Author Name] — [Affiliation]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1/12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Why Add Physical Motion to HILS?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423160"/>
            <a:ext cx="16669512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</a:defRPr>
            </a:pPr>
            <a:r>
              <a:t>Conventional HILS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Simulator computes dynamics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시뮬레이터가 동역학 계산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Controller receives synthetic sensor signals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합성 센서 신호 수신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Attitude evaluated via logs / screens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로그/화면으로만 자세 확인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IMU does not experience real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IMU가 실제 관성 운동 미경험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4AAD"/>
                </a:solidFill>
              </a:defRPr>
            </a:pPr>
            <a:r>
              <a:t>This Work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Simulator drives real Stewart platform motion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실제 플랫폼 모션 구동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PX4 IMU senses real inertial excitation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PX4 IMU 실제 관성 자극 감지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Measured attitude fed back into loop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측정 자세 → 제어 루프 피드백</a:t>
            </a:r>
          </a:p>
          <a:p>
            <a:pPr algn="l">
              <a:spcBef>
                <a:spcPts val="1400"/>
              </a:spcBef>
              <a:defRPr sz="2000" b="0">
                <a:solidFill>
                  <a:srgbClr val="2D2D2D"/>
                </a:solidFill>
              </a:defRPr>
            </a:pPr>
            <a:r>
              <a:t>•  Timing and fidelity measured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타이밍·충실도 정량 측정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9006840" y="3291840"/>
            <a:ext cx="25400" cy="438912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441448" y="804672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Can a physically closed loop remain stable, repeatable, and quantitatively explainable?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Is New Here?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926080"/>
            <a:ext cx="14630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>
                <a:solidFill>
                  <a:srgbClr val="2D2D2D"/>
                </a:solidFill>
              </a:defRPr>
            </a:pPr>
            <a:r>
              <a:t>Closed-loop feedback uses attitude estimated from real IMU motion, not only simulated sensor values.</a:t>
            </a:r>
          </a:p>
          <a:p>
            <a:pPr algn="ctr">
              <a:spcBef>
                <a:spcPts val="600"/>
              </a:spcBef>
              <a:defRPr sz="1600" b="0">
                <a:solidFill>
                  <a:srgbClr val="999999"/>
                </a:solidFill>
              </a:defRPr>
            </a:pPr>
            <a:r>
              <a:t>폐루프 피드백이 실제 IMU 운동으로부터 추정된 자세를 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Realized Motion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Simulator attitude is converted</a:t>
            </a:r>
            <a:br/>
            <a:r>
              <a:t>into Stewart-platform motion.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시뮬레이터 자세 → 플랫폼 모션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Physical Sensing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PX4 IMU and estimator respond</a:t>
            </a:r>
            <a:br/>
            <a:r>
              <a:t>to real inertial excitation.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PX4 IMU가 실제 관성 자극에 반응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0" y="438912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000" b="1">
                <a:solidFill>
                  <a:srgbClr val="004AAD"/>
                </a:solidFill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49377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 b="1">
                <a:solidFill>
                  <a:srgbClr val="2D2D2D"/>
                </a:solidFill>
              </a:defRPr>
            </a:pPr>
            <a:r>
              <a:t>Closed-Loop 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0" y="548640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>
                <a:solidFill>
                  <a:srgbClr val="2D2D2D"/>
                </a:solidFill>
              </a:defRPr>
            </a:pPr>
            <a:r>
              <a:t>Measured attitude is sent back</a:t>
            </a:r>
            <a:br/>
            <a:r>
              <a:t>into the host control loop.</a:t>
            </a:r>
          </a:p>
          <a:p>
            <a:pPr algn="ctr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측정 자세 → 호스트 제어 루프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t>Complementary validation layer — not a full aerodynamic flight replacement.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System in 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0">
                <a:solidFill>
                  <a:srgbClr val="666666"/>
                </a:solidFill>
              </a:defRPr>
            </a:pPr>
            <a:r>
              <a:t>[Insert hardware photo]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</a:defRPr>
            </a:pPr>
            <a:r>
              <a:t>스튜어트 플랫폼 + PX4 탑재 사진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200" y="3108960"/>
            <a:ext cx="7132320" cy="4572000"/>
          </a:xfrm>
          <a:prstGeom prst="rect">
            <a:avLst/>
          </a:prstGeom>
          <a:solidFill>
            <a:srgbClr val="F0F0F0"/>
          </a:solidFill>
          <a:ln w="1270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828800" lIns="254000"/>
          <a:lstStyle/>
          <a:p>
            <a:pPr algn="ctr">
              <a:defRPr sz="2200" b="0">
                <a:solidFill>
                  <a:srgbClr val="666666"/>
                </a:solidFill>
              </a:defRPr>
            </a:pPr>
            <a:r>
              <a:t>[Insert demo video]</a:t>
            </a:r>
          </a:p>
          <a:p>
            <a:pPr algn="ctr">
              <a:spcBef>
                <a:spcPts val="800"/>
              </a:spcBef>
              <a:defRPr sz="1600" b="0">
                <a:solidFill>
                  <a:srgbClr val="999999"/>
                </a:solidFill>
              </a:defRPr>
            </a:pPr>
            <a:r>
              <a:t>Trim transition 시나리오 구동 영상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1448" y="804672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41248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X-Plane sim attitude → Stewart platform motion → PX4 IMU sensing → closed-loop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How the Physical Closed Loop Works</a:t>
            </a:r>
          </a:p>
        </p:txBody>
      </p:sp>
      <p:pic>
        <p:nvPicPr>
          <p:cNvPr id="5" name="Picture 4" descr="Fig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985301" cy="54432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487667" y="4021820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Oval 6"/>
          <p:cNvSpPr/>
          <p:nvPr/>
        </p:nvSpPr>
        <p:spPr>
          <a:xfrm>
            <a:off x="1148073" y="5671275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8" name="Oval 7"/>
          <p:cNvSpPr/>
          <p:nvPr/>
        </p:nvSpPr>
        <p:spPr>
          <a:xfrm>
            <a:off x="4058876" y="6981136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9" name="Oval 8"/>
          <p:cNvSpPr/>
          <p:nvPr/>
        </p:nvSpPr>
        <p:spPr>
          <a:xfrm>
            <a:off x="7842919" y="5574248"/>
            <a:ext cx="502920" cy="502920"/>
          </a:xfrm>
          <a:prstGeom prst="ellipse">
            <a:avLst/>
          </a:prstGeom>
          <a:solidFill>
            <a:srgbClr val="C0392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25400" lIns="0" rIns="0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31089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95760" y="310896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X-Plane publishes vehicle state</a:t>
            </a:r>
            <a:br/>
            <a:r>
              <a:t>to the Python host over UDP.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X-Plane → UDP → Python 호스트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0" y="46634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95760" y="466344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Host converts state to pose</a:t>
            </a:r>
            <a:br/>
            <a:r>
              <a:t>commands for the Stewart platform.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호스트 → pose 명령 → 스튜어트 플랫폼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2179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95760" y="621792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PX4 physically senses platform</a:t>
            </a:r>
            <a:br/>
            <a:r>
              <a:t>motion through its onboard IMU.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PX4 IMU가 플랫폼 모션을 물리적으로 감지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55680" y="77724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004AAD"/>
                </a:solidFill>
              </a:defRPr>
            </a:pPr>
            <a: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95760" y="7772400"/>
            <a:ext cx="5486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400"/>
              </a:lnSpc>
              <a:defRPr sz="1800">
                <a:solidFill>
                  <a:srgbClr val="2D2D2D"/>
                </a:solidFill>
              </a:defRPr>
            </a:pPr>
            <a:r>
              <a:t>PX4 attitude returns to host;</a:t>
            </a:r>
            <a:br/>
            <a:r>
              <a:t>host injects control into X-Plane.</a:t>
            </a:r>
          </a:p>
          <a:p>
            <a:pPr algn="l">
              <a:spcBef>
                <a:spcPts val="400"/>
              </a:spcBef>
              <a:defRPr sz="1400" b="0">
                <a:solidFill>
                  <a:srgbClr val="999999"/>
                </a:solidFill>
              </a:defRPr>
            </a:pPr>
            <a:r>
              <a:t>PX4 자세 → 호스트 → X-Plane 제어 주입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8503920"/>
            <a:ext cx="14630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04AAD"/>
                </a:solidFill>
              </a:defRPr>
            </a:pPr>
            <a:r>
              <a:t>The loop is closed across software, mechanics, sensing, and control I/O.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We Tested and How We Measured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Baseline Scenario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기본 실험 시나리오</a:t>
            </a:r>
          </a:p>
          <a:p>
            <a:pPr algn="l">
              <a:spcBef>
                <a:spcPts val="1800"/>
              </a:spcBef>
              <a:defRPr sz="2200" b="1">
                <a:solidFill>
                  <a:srgbClr val="2D2D2D"/>
                </a:solidFill>
              </a:defRPr>
            </a:pPr>
            <a:r>
              <a:t>Pitch trim transition:</a:t>
            </a:r>
          </a:p>
          <a:p>
            <a:pPr algn="l">
              <a:spcBef>
                <a:spcPts val="600"/>
              </a:spcBef>
              <a:defRPr sz="2600" b="1">
                <a:solidFill>
                  <a:srgbClr val="004AAD"/>
                </a:solidFill>
              </a:defRPr>
            </a:pPr>
            <a:r>
              <a:t>0° → +5° → hold → 0°</a:t>
            </a:r>
          </a:p>
          <a:p>
            <a:pPr algn="l">
              <a:spcBef>
                <a:spcPts val="800"/>
              </a:spcBef>
              <a:defRPr sz="800" b="0">
                <a:solidFill>
                  <a:srgbClr val="2D2D2D"/>
                </a:solidFill>
              </a:defRPr>
            </a:pP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Same initial condition each run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매 실험 동일 초기 조건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Repeated for statistics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통계 확보를 위해 반복 수행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Neutral at z=+20 mm (max rotation)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z=+20 mm 기본 자세 (회전 범위 극대화)</a:t>
            </a:r>
          </a:p>
          <a:p>
            <a:pPr algn="l">
              <a:spcBef>
                <a:spcPts val="1000"/>
              </a:spcBef>
              <a:defRPr sz="1800" b="0">
                <a:solidFill>
                  <a:srgbClr val="2D2D2D"/>
                </a:solidFill>
              </a:defRPr>
            </a:pPr>
            <a:r>
              <a:t>•  Stays inside workspace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작업 영역 내 정상 거동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91840"/>
            <a:ext cx="25400" cy="493776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Logged Signals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기록 신호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X-Plane attitude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X-Plane 자세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PX4 attitude estimate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PX4 자세 추정값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Platform pose command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플랫폼 pose 명령</a:t>
            </a:r>
          </a:p>
          <a:p>
            <a:pPr algn="l">
              <a:spcBef>
                <a:spcPts val="1000"/>
              </a:spcBef>
              <a:defRPr sz="2000" b="0">
                <a:solidFill>
                  <a:srgbClr val="2D2D2D"/>
                </a:solidFill>
              </a:defRPr>
            </a:pPr>
            <a:r>
              <a:t>•  ACK timing + host timestamps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ACK 타이밍 및 타임스탬프</a:t>
            </a:r>
          </a:p>
          <a:p>
            <a:pPr algn="l">
              <a:spcBef>
                <a:spcPts val="1400"/>
              </a:spcBef>
              <a:defRPr sz="800" b="0">
                <a:solidFill>
                  <a:srgbClr val="2D2D2D"/>
                </a:solidFill>
              </a:defRPr>
            </a:pPr>
          </a:p>
          <a:p>
            <a:pPr algn="l">
              <a:spcBef>
                <a:spcPts val="600"/>
              </a:spcBef>
              <a:defRPr sz="2400" b="1">
                <a:solidFill>
                  <a:srgbClr val="004AAD"/>
                </a:solidFill>
              </a:defRPr>
            </a:pPr>
            <a:r>
              <a:t>Extracted Metrics</a:t>
            </a:r>
          </a:p>
          <a:p>
            <a:pPr algn="l">
              <a:spcBef>
                <a:spcPts val="200"/>
              </a:spcBef>
              <a:defRPr sz="1500" b="0">
                <a:solidFill>
                  <a:srgbClr val="999999"/>
                </a:solidFill>
              </a:defRPr>
            </a:pPr>
            <a:r>
              <a:t>추출 메트릭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Tracking error (raw)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추종 오차 (원시)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Bias-corrected tracking error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바이어스 보정 추종 오차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Sample age</a:t>
            </a:r>
          </a:p>
          <a:p>
            <a:pPr algn="l">
              <a:spcBef>
                <a:spcPts val="800"/>
              </a:spcBef>
              <a:defRPr sz="2000" b="0">
                <a:solidFill>
                  <a:srgbClr val="2D2D2D"/>
                </a:solidFill>
              </a:defRPr>
            </a:pPr>
            <a:r>
              <a:t>•  Serial RTT / end-to-end delay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    종단간 지연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1: Closed-Loop Tracking Is Achieved</a:t>
            </a:r>
          </a:p>
        </p:txBody>
      </p:sp>
      <p:pic>
        <p:nvPicPr>
          <p:cNvPr id="5" name="Picture 4" descr="Fig2_Pitch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10515600" cy="430183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887200" y="3291840"/>
            <a:ext cx="5029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2D2D2D"/>
                </a:solidFill>
              </a:defRPr>
            </a:pPr>
            <a:r>
              <a:t>PX4 follows the step response with consistent phase lag.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일관된 위상 지연으로 스텝 응답 추종</a:t>
            </a:r>
          </a:p>
          <a:p>
            <a:pPr algn="l">
              <a:spcBef>
                <a:spcPts val="1600"/>
              </a:spcBef>
              <a:defRPr sz="800" b="0">
                <a:solidFill>
                  <a:srgbClr val="2D2D2D"/>
                </a:solidFill>
              </a:defRPr>
            </a:pPr>
          </a:p>
          <a:p>
            <a:pPr algn="l">
              <a:spcBef>
                <a:spcPts val="400"/>
              </a:spcBef>
              <a:defRPr sz="2000" b="0">
                <a:solidFill>
                  <a:srgbClr val="2D2D2D"/>
                </a:solidFill>
              </a:defRPr>
            </a:pPr>
            <a:r>
              <a:t>Residual offset is structured —</a:t>
            </a:r>
            <a:br/>
            <a:r>
              <a:t>explainable bias, not instability.</a:t>
            </a:r>
          </a:p>
          <a:p>
            <a:pPr algn="l">
              <a:spcBef>
                <a:spcPts val="800"/>
              </a:spcBef>
              <a:defRPr sz="1400" b="0">
                <a:solidFill>
                  <a:srgbClr val="999999"/>
                </a:solidFill>
              </a:defRPr>
            </a:pPr>
            <a:r>
              <a:t>잔여 오프셋: 불안정이 아닌 설명 가능한 바이어스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The platform reproduces commanded attitude transitions well enough for quantitative closed-loop validation.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2: Residual Error Is Interpretable</a:t>
            </a:r>
          </a:p>
        </p:txBody>
      </p:sp>
      <p:pic>
        <p:nvPicPr>
          <p:cNvPr id="5" name="Picture 4" descr="Fig3_Pitch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315200" cy="2793076"/>
          </a:xfrm>
          <a:prstGeom prst="rect">
            <a:avLst/>
          </a:prstGeom>
        </p:spPr>
      </p:pic>
      <p:pic>
        <p:nvPicPr>
          <p:cNvPr id="6" name="Picture 5" descr="Fig4_MountingBias_TimeSeri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315200" cy="42561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</a:defRPr>
            </a:pPr>
            <a:r>
              <a:t>Bias correction moves error distribution closer to zero.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94944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i="1">
                <a:solidFill>
                  <a:srgbClr val="666666"/>
                </a:solidFill>
              </a:defRPr>
            </a:pPr>
            <a:r>
              <a:t>Firm-mounted run shows stable offset consistent with mounting bias.</a:t>
            </a:r>
          </a:p>
        </p:txBody>
      </p:sp>
      <p:sp>
        <p:nvSpPr>
          <p:cNvPr id="9" name="Rectangle 8"/>
          <p:cNvSpPr/>
          <p:nvPr/>
        </p:nvSpPr>
        <p:spPr>
          <a:xfrm>
            <a:off x="2441448" y="7772400"/>
            <a:ext cx="13405104" cy="109728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07208" y="8138160"/>
            <a:ext cx="12673584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0000"/>
                </a:solidFill>
              </a:defRPr>
            </a:pPr>
            <a:r>
              <a:t>The dominant residual is not random instability — a fixed bias must be separated from dynamic tracking fidelity.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Result 3: Latency Sets the Fidelity Limit</a:t>
            </a:r>
          </a:p>
        </p:txBody>
      </p:sp>
      <p:pic>
        <p:nvPicPr>
          <p:cNvPr id="5" name="Picture 4" descr="Fig5a_Latency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108960"/>
            <a:ext cx="7772400" cy="3179618"/>
          </a:xfrm>
          <a:prstGeom prst="rect">
            <a:avLst/>
          </a:prstGeom>
        </p:spPr>
      </p:pic>
      <p:pic>
        <p:nvPicPr>
          <p:cNvPr id="6" name="Picture 5" descr="Fig5b_Latency_Distribution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0" y="3108960"/>
            <a:ext cx="7772400" cy="339159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Serial RTT mean ≈ 22 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PX4 rx→ACK mean ≈ 41 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0" y="6858000"/>
            <a:ext cx="4114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004AAD"/>
                </a:solidFill>
              </a:defRPr>
            </a:pPr>
            <a:r>
              <a:t>X-Plane rx→ACK mean ≈ 51 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41448" y="7680960"/>
            <a:ext cx="13405104" cy="137160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07208" y="8046720"/>
            <a:ext cx="12673584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Measured delay and jitter explain the phase lag and define the practical bandwidth of this platform.</a:t>
            </a:r>
          </a:p>
          <a:p>
            <a:pPr algn="l">
              <a:spcBef>
                <a:spcPts val="600"/>
              </a:spcBef>
              <a:defRPr sz="1600" b="0">
                <a:solidFill>
                  <a:srgbClr val="666666"/>
                </a:solidFill>
              </a:defRPr>
            </a:pPr>
            <a:r>
              <a:t>Baseline runs show near-zero saturation → nominal timing dominates.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What This Platform Does Not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1463040" y="29718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459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Finite Workspace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유한한 작업 영역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Large multi-axis commands reduce</a:t>
            </a:r>
            <a:br/>
            <a:r>
              <a:t>the feasible operating region.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9235440" y="29718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0" y="31089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No Physical Aerodynamic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0" y="35204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공력 하중 미재현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39319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The platform reproduces motion cues,</a:t>
            </a:r>
            <a:br/>
            <a:r>
              <a:t>not full external-force physics.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57150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459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Platform-Level Actuation Limits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459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플랫폼 구동 한계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Timing, hysteresis, and actuator</a:t>
            </a:r>
            <a:br/>
            <a:r>
              <a:t>constraints shape response fidelity.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5715000"/>
            <a:ext cx="7223760" cy="246888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0" y="5852160"/>
            <a:ext cx="6858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C0392B"/>
                </a:solidFill>
              </a:defRPr>
            </a:pPr>
            <a:r>
              <a:t>Not a Flight Replacement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0" y="6263640"/>
            <a:ext cx="6858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999999"/>
                </a:solidFill>
              </a:defRPr>
            </a:pPr>
            <a:r>
              <a:t>비행 대체 불가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18320" y="667512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D2D2D"/>
                </a:solidFill>
              </a:defRPr>
            </a:pPr>
            <a:r>
              <a:t>This platform complements conventional</a:t>
            </a:r>
            <a:br/>
            <a:r>
              <a:t>HILS and real flight testing.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441448" y="8595360"/>
            <a:ext cx="13405104" cy="91440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07208" y="8961120"/>
            <a:ext cx="1267358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Correct claim: a practical, measurable, physically informed pre-flight validation layer.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4592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Key Results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주요 성과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1.  Physically closed-loop HILS architecture</a:t>
            </a:r>
            <a:br/>
            <a:r>
              <a:t>implemented: X-Plane + Stewart + PX4.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물리적 폐루프 HILS 아키텍처 구현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2.  Closed-loop attitude tracking achieved</a:t>
            </a:r>
            <a:br/>
            <a:r>
              <a:t>and evaluated quantitatively.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폐루프 자세 추종 달성 및 정량 평가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3.  Bias and latency are measured and used</a:t>
            </a:r>
            <a:br/>
            <a:r>
              <a:t>to define the platform's true fidelity.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 바이어스·지연 측정으로 실제 충실도 정의</a:t>
            </a:r>
          </a:p>
        </p:txBody>
      </p:sp>
      <p:sp>
        <p:nvSpPr>
          <p:cNvPr id="6" name="Rectangle 5"/>
          <p:cNvSpPr/>
          <p:nvPr/>
        </p:nvSpPr>
        <p:spPr>
          <a:xfrm>
            <a:off x="9006840" y="3200400"/>
            <a:ext cx="25400" cy="4572000"/>
          </a:xfrm>
          <a:prstGeom prst="rect">
            <a:avLst/>
          </a:prstGeom>
          <a:solidFill>
            <a:srgbClr val="004A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0" y="31089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04AAD"/>
                </a:solidFill>
              </a:defRPr>
            </a:pPr>
            <a:r>
              <a:t>Next Steps</a:t>
            </a:r>
          </a:p>
          <a:p>
            <a:pPr algn="l">
              <a:spcBef>
                <a:spcPts val="200"/>
              </a:spcBef>
              <a:defRPr sz="1600" b="0">
                <a:solidFill>
                  <a:srgbClr val="999999"/>
                </a:solidFill>
              </a:defRPr>
            </a:pPr>
            <a:r>
              <a:t>향후 과제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Time-aligned error analysis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시간 정렬 기반 오차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Repeatability / hysteresis</a:t>
            </a:r>
            <a:br/>
            <a:r>
              <a:t>characterization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반복성·히스테리시스 특성 분석</a:t>
            </a:r>
          </a:p>
          <a:p>
            <a:pPr algn="l">
              <a:spcBef>
                <a:spcPts val="1600"/>
              </a:spcBef>
              <a:defRPr sz="1800" b="0">
                <a:solidFill>
                  <a:srgbClr val="2D2D2D"/>
                </a:solidFill>
              </a:defRPr>
            </a:pPr>
            <a:r>
              <a:t>→  Stress tests near workspace</a:t>
            </a:r>
            <a:br/>
            <a:r>
              <a:t>and saturation limits</a:t>
            </a:r>
          </a:p>
          <a:p>
            <a:pPr algn="l">
              <a:spcBef>
                <a:spcPts val="200"/>
              </a:spcBef>
              <a:defRPr sz="1400" b="0">
                <a:solidFill>
                  <a:srgbClr val="999999"/>
                </a:solidFill>
              </a:defRPr>
            </a:pPr>
            <a:r>
              <a:t>    작업 영역·포화 한계 스트레스 시험</a:t>
            </a:r>
          </a:p>
        </p:txBody>
      </p:sp>
      <p:sp>
        <p:nvSpPr>
          <p:cNvPr id="8" name="Rectangle 7"/>
          <p:cNvSpPr/>
          <p:nvPr/>
        </p:nvSpPr>
        <p:spPr>
          <a:xfrm>
            <a:off x="2441448" y="8046720"/>
            <a:ext cx="13405104" cy="1463040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07208" y="8412480"/>
            <a:ext cx="12673584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0000"/>
                </a:solidFill>
              </a:defRPr>
            </a:pPr>
            <a:r>
              <a:t>This platform fills part of the gap between software-only HILS and real flight testing.</a:t>
            </a:r>
          </a:p>
          <a:p>
            <a:pPr algn="ctr">
              <a:spcBef>
                <a:spcPts val="1200"/>
              </a:spcBef>
              <a:defRPr sz="2200" b="1">
                <a:solidFill>
                  <a:srgbClr val="004AAD"/>
                </a:solidFill>
              </a:defRPr>
            </a:pPr>
            <a:r>
              <a:t>Thank you — Questions welcome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CDCD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04672" y="758952"/>
            <a:ext cx="16669512" cy="863193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04672" y="758952"/>
            <a:ext cx="16669512" cy="192938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882896" y="1371600"/>
            <a:ext cx="8513064" cy="6675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0000"/>
                </a:solidFill>
              </a:defRPr>
            </a:pPr>
            <a:r>
              <a:t>Backup: Anticipated Questions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92608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04AAD"/>
                </a:solidFill>
              </a:defRPr>
            </a:pPr>
            <a:r>
              <a:t>"Why z=+20 mm as the neutral position?"</a:t>
            </a:r>
          </a:p>
        </p:txBody>
      </p:sp>
      <p:pic>
        <p:nvPicPr>
          <p:cNvPr id="6" name="Picture 5" descr="rot_worst_vs_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566160"/>
            <a:ext cx="5486400" cy="30861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45920" y="7589520"/>
            <a:ext cx="5943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200"/>
              </a:lnSpc>
              <a:defRPr sz="1600">
                <a:solidFill>
                  <a:srgbClr val="2D2D2D"/>
                </a:solidFill>
              </a:defRPr>
            </a:pPr>
            <a:r>
              <a:t>z=+20 mm → ~20° rotation range</a:t>
            </a:r>
            <a:br/>
            <a:r>
              <a:t>z=0 mm → ~10° (insufficient for ±5° 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"Why not conventional HILS?"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Real inertial excitation that sensor synthesis</a:t>
            </a:r>
            <a:br/>
            <a:r>
              <a:t>cannot provide. → Slides 3 + 10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0" y="292608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"How do you handle saturation?"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Baseline ±5° out of ~20° available.</a:t>
            </a:r>
            <a:br/>
            <a:r>
              <a:t>Stress tests planned. → Sl 6+10+11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"Effective bandwidth?"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~50 Hz tick, E2E latency ~51 ms.</a:t>
            </a:r>
            <a:br/>
            <a:r>
              <a:t>Low-freq suited. → Sl 5+9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0" y="425196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"Open-loop platform — pose accuracy?"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No encoder feedback. PX4 IMU only</a:t>
            </a:r>
            <a:br/>
            <a:r>
              <a:t>physical measurement. → Sl 10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"What is mounting bias?"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~1.8° from FC alignment. Stable</a:t>
            </a:r>
            <a:br/>
            <a:r>
              <a:t>(σ≈0.2°), calibrated. → Sl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0" y="557784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"How repeatable across runs?"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5 runs: σ≈0.2° intra, Δ≤0.8° inter.</a:t>
            </a:r>
            <a:br/>
            <a:r>
              <a:t>→ Slides 8+11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690372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4AAD"/>
                </a:solidFill>
              </a:defRPr>
            </a:pPr>
            <a:r>
              <a:t>"Extend to quadrotors?"</a:t>
            </a:r>
          </a:p>
          <a:p>
            <a:pPr algn="l">
              <a:spcBef>
                <a:spcPts val="400"/>
              </a:spcBef>
              <a:defRPr sz="1100" b="0">
                <a:solidFill>
                  <a:srgbClr val="2D2D2D"/>
                </a:solidFill>
              </a:defRPr>
            </a:pPr>
            <a:r>
              <a:t>Vehicle-agnostic architecture.</a:t>
            </a:r>
            <a:br/>
            <a:r>
              <a:t>Only model + PID change. → Sl 11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0" y="9646920"/>
            <a:ext cx="10972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>
                <a:solidFill>
                  <a:srgbClr val="666666"/>
                </a:solidFill>
              </a:defRPr>
            </a:pPr>
            <a: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DAHELYcEp6c</dc:identifier>
  <dcterms:modified xsi:type="dcterms:W3CDTF">2011-08-01T06:04:30Z</dcterms:modified>
  <cp:revision>1</cp:revision>
  <dc:title>파란색 배경 현대적인 프로젝트 프레젠테이션</dc:title>
</cp:coreProperties>
</file>