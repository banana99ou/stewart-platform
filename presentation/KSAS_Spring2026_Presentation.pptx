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각진펜 Bold" panose="020B0500000000000000" pitchFamily="34" charset="-127"/>
      <p:regular r:id="rId14"/>
      <p:bold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37" autoAdjust="0"/>
    <p:restoredTop sz="94615" autoAdjust="0"/>
  </p:normalViewPr>
  <p:slideViewPr>
    <p:cSldViewPr>
      <p:cViewPr varScale="1">
        <p:scale>
          <a:sx n="101" d="100"/>
          <a:sy n="101" d="100"/>
        </p:scale>
        <p:origin x="1008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1/12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5CF4808-80C9-045E-4D77-981B982D8C1D}"/>
              </a:ext>
            </a:extLst>
          </p:cNvPr>
          <p:cNvSpPr txBox="1"/>
          <p:nvPr/>
        </p:nvSpPr>
        <p:spPr>
          <a:xfrm>
            <a:off x="-1600200" y="4229100"/>
            <a:ext cx="21564599" cy="18197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5400"/>
              </a:lnSpc>
              <a:spcBef>
                <a:spcPct val="0"/>
              </a:spcBef>
            </a:pPr>
            <a:r>
              <a:rPr lang="en-US" sz="7200" b="1" spc="-220" dirty="0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Flight Attitude-Control Validation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8E104A6-6EBE-8FDF-1228-001ED563A6D8}"/>
              </a:ext>
            </a:extLst>
          </p:cNvPr>
          <p:cNvSpPr txBox="1"/>
          <p:nvPr/>
        </p:nvSpPr>
        <p:spPr>
          <a:xfrm>
            <a:off x="2023900" y="3238500"/>
            <a:ext cx="14316398" cy="14100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460"/>
              </a:lnSpc>
            </a:pPr>
            <a:r>
              <a:rPr lang="en-US" sz="5400" b="1" spc="-178" dirty="0">
                <a:solidFill>
                  <a:srgbClr val="004AAD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Physically Closed-Loop HILS for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5AC8D5D-0D25-57A6-051D-6F4475DFE344}"/>
              </a:ext>
            </a:extLst>
          </p:cNvPr>
          <p:cNvSpPr txBox="1"/>
          <p:nvPr/>
        </p:nvSpPr>
        <p:spPr>
          <a:xfrm>
            <a:off x="4885350" y="6057900"/>
            <a:ext cx="8517301" cy="382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 b="1" spc="-44" dirty="0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Using a Stewart Platform with X-Plane and PX4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F59840-C0D8-9420-4051-70C2293698B8}"/>
              </a:ext>
            </a:extLst>
          </p:cNvPr>
          <p:cNvSpPr txBox="1"/>
          <p:nvPr/>
        </p:nvSpPr>
        <p:spPr>
          <a:xfrm>
            <a:off x="4885350" y="7837735"/>
            <a:ext cx="8517301" cy="8816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b="1" spc="-49" dirty="0" err="1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작성자</a:t>
            </a:r>
            <a:r>
              <a:rPr lang="en-US" sz="2499" b="1" spc="-49" dirty="0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 : </a:t>
            </a:r>
            <a:r>
              <a:rPr lang="ko-KR" altLang="en-US" sz="2499" b="1" spc="-49" dirty="0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국민대 정현용 국민대 이수원</a:t>
            </a:r>
            <a:endParaRPr lang="en-US" altLang="ko-KR" sz="2499" b="1" spc="-49" dirty="0">
              <a:solidFill>
                <a:srgbClr val="000000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ko-KR" altLang="en-US" sz="2499" b="1" spc="-49" dirty="0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발표자</a:t>
            </a:r>
            <a:r>
              <a:rPr lang="en-US" altLang="ko-KR" sz="2499" b="1" spc="-49" dirty="0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:</a:t>
            </a:r>
            <a:r>
              <a:rPr lang="ko-KR" altLang="en-US" sz="2499" b="1" spc="-49" dirty="0">
                <a:solidFill>
                  <a:srgbClr val="000000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 국민대 정현용</a:t>
            </a:r>
            <a:endParaRPr lang="en-US" sz="2499" b="1" spc="-49" dirty="0">
              <a:solidFill>
                <a:srgbClr val="000000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Why Add Physical Motion to HILS?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423160"/>
            <a:ext cx="16669512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999999"/>
                </a:solidFill>
              </a:defRPr>
            </a:pPr>
            <a:r>
              <a:rPr dirty="0" err="1"/>
              <a:t>왜</a:t>
            </a:r>
            <a:r>
              <a:rPr dirty="0"/>
              <a:t> </a:t>
            </a:r>
            <a:r>
              <a:rPr dirty="0" err="1"/>
              <a:t>HILS에</a:t>
            </a:r>
            <a:r>
              <a:rPr dirty="0"/>
              <a:t> </a:t>
            </a:r>
            <a:r>
              <a:rPr dirty="0" err="1"/>
              <a:t>물리적</a:t>
            </a:r>
            <a:r>
              <a:rPr dirty="0"/>
              <a:t> </a:t>
            </a:r>
            <a:r>
              <a:rPr dirty="0" err="1"/>
              <a:t>모션이</a:t>
            </a:r>
            <a:r>
              <a:rPr dirty="0"/>
              <a:t> </a:t>
            </a:r>
            <a:r>
              <a:rPr dirty="0" err="1"/>
              <a:t>필요한가</a:t>
            </a:r>
            <a:r>
              <a:rPr dirty="0"/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4AAD"/>
                </a:solidFill>
              </a:defRPr>
            </a:pPr>
            <a:r>
              <a:rPr dirty="0"/>
              <a:t>Conventional HILS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rPr lang="ko-KR" altLang="en-US" dirty="0"/>
              <a:t>기존 </a:t>
            </a:r>
            <a:r>
              <a:rPr lang="en-US" dirty="0"/>
              <a:t>HILS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rPr dirty="0"/>
              <a:t>•  Simulator computes dynamics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rPr dirty="0"/>
              <a:t>    </a:t>
            </a:r>
            <a:r>
              <a:rPr dirty="0" err="1"/>
              <a:t>시뮬레이터가</a:t>
            </a:r>
            <a:r>
              <a:rPr dirty="0"/>
              <a:t> </a:t>
            </a:r>
            <a:r>
              <a:rPr dirty="0" err="1"/>
              <a:t>동역학</a:t>
            </a:r>
            <a:r>
              <a:rPr dirty="0"/>
              <a:t> </a:t>
            </a:r>
            <a:r>
              <a:rPr dirty="0" err="1"/>
              <a:t>계산</a:t>
            </a:r>
            <a:endParaRPr dirty="0"/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rPr dirty="0"/>
              <a:t>•  Controller receives synthetic sensor signals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rPr dirty="0"/>
              <a:t>    </a:t>
            </a:r>
            <a:r>
              <a:rPr dirty="0" err="1"/>
              <a:t>합성</a:t>
            </a:r>
            <a:r>
              <a:rPr dirty="0"/>
              <a:t> </a:t>
            </a:r>
            <a:r>
              <a:rPr dirty="0" err="1"/>
              <a:t>센서</a:t>
            </a:r>
            <a:r>
              <a:rPr dirty="0"/>
              <a:t> </a:t>
            </a:r>
            <a:r>
              <a:rPr dirty="0" err="1"/>
              <a:t>신호</a:t>
            </a:r>
            <a:r>
              <a:rPr dirty="0"/>
              <a:t> </a:t>
            </a:r>
            <a:r>
              <a:rPr dirty="0" err="1"/>
              <a:t>수신</a:t>
            </a:r>
            <a:endParaRPr dirty="0"/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rPr dirty="0"/>
              <a:t>•  Attitude evaluated via logs / screens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rPr dirty="0"/>
              <a:t>    </a:t>
            </a:r>
            <a:r>
              <a:rPr dirty="0" err="1"/>
              <a:t>로그</a:t>
            </a:r>
            <a:r>
              <a:rPr dirty="0"/>
              <a:t>/</a:t>
            </a:r>
            <a:r>
              <a:rPr dirty="0" err="1"/>
              <a:t>화면으로만</a:t>
            </a:r>
            <a:r>
              <a:rPr dirty="0"/>
              <a:t> </a:t>
            </a:r>
            <a:r>
              <a:rPr dirty="0" err="1"/>
              <a:t>자세</a:t>
            </a:r>
            <a:r>
              <a:rPr dirty="0"/>
              <a:t> </a:t>
            </a:r>
            <a:r>
              <a:rPr dirty="0" err="1"/>
              <a:t>확인</a:t>
            </a:r>
            <a:endParaRPr dirty="0"/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rPr dirty="0"/>
              <a:t>•  IMU does not experience real motion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rPr dirty="0"/>
              <a:t>    </a:t>
            </a:r>
            <a:r>
              <a:rPr dirty="0" err="1"/>
              <a:t>IMU가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관성</a:t>
            </a:r>
            <a:r>
              <a:rPr dirty="0"/>
              <a:t> </a:t>
            </a:r>
            <a:r>
              <a:rPr dirty="0" err="1"/>
              <a:t>운동</a:t>
            </a:r>
            <a:r>
              <a:rPr dirty="0"/>
              <a:t> </a:t>
            </a:r>
            <a:r>
              <a:rPr dirty="0" err="1"/>
              <a:t>미경험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978408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4AAD"/>
                </a:solidFill>
              </a:defRPr>
            </a:pPr>
            <a:r>
              <a:rPr dirty="0"/>
              <a:t>This Work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rPr dirty="0" err="1"/>
              <a:t>본</a:t>
            </a:r>
            <a:r>
              <a:rPr dirty="0"/>
              <a:t> </a:t>
            </a:r>
            <a:r>
              <a:rPr dirty="0" err="1"/>
              <a:t>연구</a:t>
            </a:r>
            <a:endParaRPr dirty="0"/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rPr dirty="0"/>
              <a:t>•  Simulator drives real Stewart platform motion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rPr dirty="0"/>
              <a:t>   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플랫폼</a:t>
            </a:r>
            <a:r>
              <a:rPr dirty="0"/>
              <a:t> </a:t>
            </a:r>
            <a:r>
              <a:rPr dirty="0" err="1"/>
              <a:t>모션</a:t>
            </a:r>
            <a:r>
              <a:rPr dirty="0"/>
              <a:t> </a:t>
            </a:r>
            <a:r>
              <a:rPr dirty="0" err="1"/>
              <a:t>구동</a:t>
            </a:r>
            <a:endParaRPr dirty="0"/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rPr dirty="0"/>
              <a:t>•  PX4 IMU senses real inertial excitation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rPr dirty="0"/>
              <a:t>    PX4 IMU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관성</a:t>
            </a:r>
            <a:r>
              <a:rPr dirty="0"/>
              <a:t> </a:t>
            </a:r>
            <a:r>
              <a:rPr dirty="0" err="1"/>
              <a:t>자극</a:t>
            </a:r>
            <a:r>
              <a:rPr dirty="0"/>
              <a:t> </a:t>
            </a:r>
            <a:r>
              <a:rPr dirty="0" err="1"/>
              <a:t>감지</a:t>
            </a:r>
            <a:endParaRPr dirty="0"/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rPr dirty="0"/>
              <a:t>•  Measured attitude fed back into loop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rPr dirty="0"/>
              <a:t>    </a:t>
            </a:r>
            <a:r>
              <a:rPr dirty="0" err="1"/>
              <a:t>측정</a:t>
            </a:r>
            <a:r>
              <a:rPr dirty="0"/>
              <a:t> </a:t>
            </a:r>
            <a:r>
              <a:rPr dirty="0" err="1"/>
              <a:t>자세</a:t>
            </a:r>
            <a:r>
              <a:rPr dirty="0"/>
              <a:t> → </a:t>
            </a:r>
            <a:r>
              <a:rPr dirty="0" err="1"/>
              <a:t>제어</a:t>
            </a:r>
            <a:r>
              <a:rPr dirty="0"/>
              <a:t> </a:t>
            </a:r>
            <a:r>
              <a:rPr dirty="0" err="1"/>
              <a:t>루프</a:t>
            </a:r>
            <a:r>
              <a:rPr dirty="0"/>
              <a:t> </a:t>
            </a:r>
            <a:r>
              <a:rPr dirty="0" err="1"/>
              <a:t>피드백</a:t>
            </a:r>
            <a:endParaRPr dirty="0"/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rPr dirty="0"/>
              <a:t>•  Timing and fidelity measured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rPr dirty="0"/>
              <a:t>    </a:t>
            </a:r>
            <a:r>
              <a:rPr dirty="0" err="1"/>
              <a:t>타이밍·충실도</a:t>
            </a:r>
            <a:r>
              <a:rPr dirty="0"/>
              <a:t> </a:t>
            </a:r>
            <a:r>
              <a:rPr dirty="0" err="1"/>
              <a:t>정량</a:t>
            </a:r>
            <a:r>
              <a:rPr dirty="0"/>
              <a:t> </a:t>
            </a:r>
            <a:r>
              <a:rPr dirty="0" err="1"/>
              <a:t>측정</a:t>
            </a:r>
            <a:endParaRPr dirty="0"/>
          </a:p>
        </p:txBody>
      </p:sp>
      <p:sp>
        <p:nvSpPr>
          <p:cNvPr id="8" name="Rectangle 7"/>
          <p:cNvSpPr/>
          <p:nvPr/>
        </p:nvSpPr>
        <p:spPr>
          <a:xfrm>
            <a:off x="9006840" y="3291840"/>
            <a:ext cx="25400" cy="438912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441448" y="8046720"/>
            <a:ext cx="13405104" cy="109728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</a:defRPr>
            </a:pPr>
            <a:r>
              <a:t>Can a physically closed loop remain stable, repeatable, and quantitatively explainable?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What Is New Here?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926080"/>
            <a:ext cx="1463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2D2D2D"/>
                </a:solidFill>
              </a:defRPr>
            </a:pPr>
            <a:r>
              <a:t>Closed-loop feedback uses attitude estimated from real IMU motion, not only simulated sensor values.</a:t>
            </a:r>
          </a:p>
          <a:p>
            <a:pPr algn="ctr">
              <a:spcBef>
                <a:spcPts val="600"/>
              </a:spcBef>
              <a:defRPr sz="1600" b="0">
                <a:solidFill>
                  <a:srgbClr val="999999"/>
                </a:solidFill>
              </a:defRPr>
            </a:pPr>
            <a:r>
              <a:t>폐루프 피드백이 실제 IMU 운동으로부터 추정된 자세를 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004AAD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2D2D"/>
                </a:solidFill>
              </a:defRPr>
            </a:pPr>
            <a:r>
              <a:t>Realized Motion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4864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2D2D2D"/>
                </a:solidFill>
              </a:defRPr>
            </a:pPr>
            <a:r>
              <a:t>Simulator attitude is converted</a:t>
            </a:r>
            <a:br/>
            <a:r>
              <a:t>into Stewart-platform motion.</a:t>
            </a:r>
          </a:p>
          <a:p>
            <a:pPr algn="ctr">
              <a:spcBef>
                <a:spcPts val="800"/>
              </a:spcBef>
              <a:defRPr sz="1400" b="0">
                <a:solidFill>
                  <a:srgbClr val="999999"/>
                </a:solidFill>
              </a:defRPr>
            </a:pPr>
            <a:r>
              <a:t>시뮬레이터 자세 → 플랫폼 모션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004AAD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2D2D"/>
                </a:solidFill>
              </a:defRPr>
            </a:pPr>
            <a:r>
              <a:t>Physical Sensing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4864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2D2D2D"/>
                </a:solidFill>
              </a:defRPr>
            </a:pPr>
            <a:r>
              <a:t>PX4 IMU and estimator respond</a:t>
            </a:r>
            <a:br/>
            <a:r>
              <a:t>to real inertial excitation.</a:t>
            </a:r>
          </a:p>
          <a:p>
            <a:pPr algn="ctr">
              <a:spcBef>
                <a:spcPts val="800"/>
              </a:spcBef>
              <a:defRPr sz="1400" b="0">
                <a:solidFill>
                  <a:srgbClr val="999999"/>
                </a:solidFill>
              </a:defRPr>
            </a:pPr>
            <a:r>
              <a:t>PX4 IMU가 실제 관성 자극에 반응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004AAD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2D2D"/>
                </a:solidFill>
              </a:defRPr>
            </a:pPr>
            <a:r>
              <a:t>Closed-Loop 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54864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2D2D2D"/>
                </a:solidFill>
              </a:defRPr>
            </a:pPr>
            <a:r>
              <a:t>Measured attitude is sent back</a:t>
            </a:r>
            <a:br/>
            <a:r>
              <a:t>into the host control loop.</a:t>
            </a:r>
          </a:p>
          <a:p>
            <a:pPr algn="ctr">
              <a:spcBef>
                <a:spcPts val="800"/>
              </a:spcBef>
              <a:defRPr sz="1400" b="0">
                <a:solidFill>
                  <a:srgbClr val="999999"/>
                </a:solidFill>
              </a:defRPr>
            </a:pPr>
            <a:r>
              <a:t>측정 자세 → 호스트 제어 루프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41448" y="7772400"/>
            <a:ext cx="13405104" cy="109728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07208" y="813816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</a:defRPr>
            </a:pPr>
            <a:r>
              <a:t>Complementary validation layer — not a full aerodynamic flight replacement.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System in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108960"/>
            <a:ext cx="7132320" cy="4572000"/>
          </a:xfrm>
          <a:prstGeom prst="rect">
            <a:avLst/>
          </a:prstGeom>
          <a:solidFill>
            <a:srgbClr val="F0F0F0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0" tIns="1828800" rtlCol="0" anchor="ctr"/>
          <a:lstStyle/>
          <a:p>
            <a:pPr algn="ctr">
              <a:defRPr sz="2200" b="0">
                <a:solidFill>
                  <a:srgbClr val="666666"/>
                </a:solidFill>
              </a:defRPr>
            </a:pPr>
            <a:r>
              <a:t>[Insert hardware photo]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99999"/>
                </a:solidFill>
              </a:defRPr>
            </a:pPr>
            <a:r>
              <a:t>스튜어트 플랫폼 + PX4 탑재 사진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3108960"/>
            <a:ext cx="7132320" cy="4572000"/>
          </a:xfrm>
          <a:prstGeom prst="rect">
            <a:avLst/>
          </a:prstGeom>
          <a:solidFill>
            <a:srgbClr val="F0F0F0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0" tIns="1828800" rtlCol="0" anchor="ctr"/>
          <a:lstStyle/>
          <a:p>
            <a:pPr algn="ctr">
              <a:defRPr sz="2200" b="0">
                <a:solidFill>
                  <a:srgbClr val="666666"/>
                </a:solidFill>
              </a:defRPr>
            </a:pPr>
            <a:r>
              <a:t>[Insert demo video]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99999"/>
                </a:solidFill>
              </a:defRPr>
            </a:pPr>
            <a:r>
              <a:t>Trim transition 시나리오 구동 영상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1448" y="8046720"/>
            <a:ext cx="13405104" cy="109728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</a:defRPr>
            </a:pPr>
            <a:r>
              <a:t>X-Plane sim attitude → Stewart platform motion → PX4 IMU sensing → closed-loop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How the Physical Closed Loop Works</a:t>
            </a:r>
          </a:p>
        </p:txBody>
      </p:sp>
      <p:pic>
        <p:nvPicPr>
          <p:cNvPr id="5" name="Picture 4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7985301" cy="5443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487667" y="4021820"/>
            <a:ext cx="502920" cy="5029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5400" rIns="0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1148073" y="5671275"/>
            <a:ext cx="502920" cy="5029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5400" rIns="0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4058876" y="6981136"/>
            <a:ext cx="502920" cy="5029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5400" rIns="0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7842919" y="5574248"/>
            <a:ext cx="502920" cy="5029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5400" rIns="0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31089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4AAD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95760" y="310896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800">
                <a:solidFill>
                  <a:srgbClr val="2D2D2D"/>
                </a:solidFill>
              </a:defRPr>
            </a:pPr>
            <a:r>
              <a:t>X-Plane publishes vehicle state</a:t>
            </a:r>
            <a:br/>
            <a:r>
              <a:t>to the Python host over UDP.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99999"/>
                </a:solidFill>
              </a:defRPr>
            </a:pPr>
            <a:r>
              <a:t>X-Plane → UDP → Python 호스트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46634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4AAD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466344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800">
                <a:solidFill>
                  <a:srgbClr val="2D2D2D"/>
                </a:solidFill>
              </a:defRPr>
            </a:pPr>
            <a:r>
              <a:t>Host converts state to pose</a:t>
            </a:r>
            <a:br/>
            <a:r>
              <a:t>commands for the Stewart platform.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99999"/>
                </a:solidFill>
              </a:defRPr>
            </a:pPr>
            <a:r>
              <a:t>호스트 → pose 명령 → 스튜어트 플랫폼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21792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4AAD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0" y="621792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800">
                <a:solidFill>
                  <a:srgbClr val="2D2D2D"/>
                </a:solidFill>
              </a:defRPr>
            </a:pPr>
            <a:r>
              <a:t>PX4 physically senses platform</a:t>
            </a:r>
            <a:br/>
            <a:r>
              <a:t>motion through its onboard IMU.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99999"/>
                </a:solidFill>
              </a:defRPr>
            </a:pPr>
            <a:r>
              <a:t>PX4 IMU가 플랫폼 모션을 물리적으로 감지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77724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4AAD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0" y="777240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800">
                <a:solidFill>
                  <a:srgbClr val="2D2D2D"/>
                </a:solidFill>
              </a:defRPr>
            </a:pPr>
            <a:r>
              <a:t>PX4 attitude returns to host;</a:t>
            </a:r>
            <a:br/>
            <a:r>
              <a:t>host injects control into X-Plane.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99999"/>
                </a:solidFill>
              </a:defRPr>
            </a:pPr>
            <a:r>
              <a:t>PX4 자세 → 호스트 → X-Plane 제어 주입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8503920"/>
            <a:ext cx="1463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04AAD"/>
                </a:solidFill>
              </a:defRPr>
            </a:pPr>
            <a:r>
              <a:t>The loop is closed across software, mechanics, sensing, and control I/O.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What We Tested and How We Measured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3108960"/>
            <a:ext cx="6858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4AAD"/>
                </a:solidFill>
              </a:defRPr>
            </a:pPr>
            <a:r>
              <a:t>Baseline Scenario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기본 실험 시나리오</a:t>
            </a:r>
          </a:p>
          <a:p>
            <a:pPr algn="l">
              <a:spcBef>
                <a:spcPts val="1800"/>
              </a:spcBef>
              <a:defRPr sz="2200" b="1">
                <a:solidFill>
                  <a:srgbClr val="2D2D2D"/>
                </a:solidFill>
              </a:defRPr>
            </a:pPr>
            <a:r>
              <a:t>Pitch trim transition:</a:t>
            </a:r>
          </a:p>
          <a:p>
            <a:pPr algn="l">
              <a:spcBef>
                <a:spcPts val="600"/>
              </a:spcBef>
              <a:defRPr sz="2600" b="1">
                <a:solidFill>
                  <a:srgbClr val="004AAD"/>
                </a:solidFill>
              </a:defRPr>
            </a:pPr>
            <a:r>
              <a:t>0° → +5° → hold → 0°</a:t>
            </a:r>
          </a:p>
          <a:p>
            <a:pPr algn="l">
              <a:spcBef>
                <a:spcPts val="800"/>
              </a:spcBef>
              <a:defRPr sz="800" b="0">
                <a:solidFill>
                  <a:srgbClr val="2D2D2D"/>
                </a:solidFill>
              </a:defRPr>
            </a:pPr>
            <a:endParaRPr/>
          </a:p>
          <a:p>
            <a:pPr algn="l">
              <a:spcBef>
                <a:spcPts val="1000"/>
              </a:spcBef>
              <a:defRPr sz="1800" b="0">
                <a:solidFill>
                  <a:srgbClr val="2D2D2D"/>
                </a:solidFill>
              </a:defRPr>
            </a:pPr>
            <a:r>
              <a:t>•  Same initial condition each run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매 실험 동일 초기 조건</a:t>
            </a:r>
          </a:p>
          <a:p>
            <a:pPr algn="l">
              <a:spcBef>
                <a:spcPts val="1000"/>
              </a:spcBef>
              <a:defRPr sz="1800" b="0">
                <a:solidFill>
                  <a:srgbClr val="2D2D2D"/>
                </a:solidFill>
              </a:defRPr>
            </a:pPr>
            <a:r>
              <a:t>•  Repeated for statistics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통계 확보를 위해 반복 수행</a:t>
            </a:r>
          </a:p>
          <a:p>
            <a:pPr algn="l">
              <a:spcBef>
                <a:spcPts val="1000"/>
              </a:spcBef>
              <a:defRPr sz="1800" b="0">
                <a:solidFill>
                  <a:srgbClr val="2D2D2D"/>
                </a:solidFill>
              </a:defRPr>
            </a:pPr>
            <a:r>
              <a:t>•  Neutral at z=+20 mm (max rotation)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z=+20 mm 기본 자세 (회전 범위 극대화)</a:t>
            </a:r>
          </a:p>
          <a:p>
            <a:pPr algn="l">
              <a:spcBef>
                <a:spcPts val="1000"/>
              </a:spcBef>
              <a:defRPr sz="1800" b="0">
                <a:solidFill>
                  <a:srgbClr val="2D2D2D"/>
                </a:solidFill>
              </a:defRPr>
            </a:pPr>
            <a:r>
              <a:t>•  Stays inside workspace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작업 영역 내 정상 거동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6840" y="3291840"/>
            <a:ext cx="25400" cy="49377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0" y="3108960"/>
            <a:ext cx="6858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4AAD"/>
                </a:solidFill>
              </a:defRPr>
            </a:pPr>
            <a:r>
              <a:t>Logged Signals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기록 신호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2D2D2D"/>
                </a:solidFill>
              </a:defRPr>
            </a:pPr>
            <a:r>
              <a:t>•  X-Plane attitude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X-Plane 자세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2D2D2D"/>
                </a:solidFill>
              </a:defRPr>
            </a:pPr>
            <a:r>
              <a:t>•  PX4 attitude estimate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PX4 자세 추정값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2D2D2D"/>
                </a:solidFill>
              </a:defRPr>
            </a:pPr>
            <a:r>
              <a:t>•  Platform pose command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플랫폼 pose 명령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2D2D2D"/>
                </a:solidFill>
              </a:defRPr>
            </a:pPr>
            <a:r>
              <a:t>•  ACK timing + host timestamps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ACK 타이밍 및 타임스탬프</a:t>
            </a:r>
          </a:p>
          <a:p>
            <a:pPr algn="l">
              <a:spcBef>
                <a:spcPts val="1400"/>
              </a:spcBef>
              <a:defRPr sz="800" b="0">
                <a:solidFill>
                  <a:srgbClr val="2D2D2D"/>
                </a:solidFill>
              </a:defRPr>
            </a:pPr>
            <a:endParaRPr/>
          </a:p>
          <a:p>
            <a:pPr algn="l">
              <a:spcBef>
                <a:spcPts val="600"/>
              </a:spcBef>
              <a:defRPr sz="2400" b="1">
                <a:solidFill>
                  <a:srgbClr val="004AAD"/>
                </a:solidFill>
              </a:defRPr>
            </a:pPr>
            <a:r>
              <a:t>Extracted Metrics</a:t>
            </a:r>
          </a:p>
          <a:p>
            <a:pPr algn="l">
              <a:spcBef>
                <a:spcPts val="200"/>
              </a:spcBef>
              <a:defRPr sz="1500" b="0">
                <a:solidFill>
                  <a:srgbClr val="999999"/>
                </a:solidFill>
              </a:defRPr>
            </a:pPr>
            <a:r>
              <a:t>추출 메트릭</a:t>
            </a:r>
          </a:p>
          <a:p>
            <a:pPr algn="l">
              <a:spcBef>
                <a:spcPts val="800"/>
              </a:spcBef>
              <a:defRPr sz="2000" b="0">
                <a:solidFill>
                  <a:srgbClr val="2D2D2D"/>
                </a:solidFill>
              </a:defRPr>
            </a:pPr>
            <a:r>
              <a:t>•  Tracking error (raw)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추종 오차 (원시)</a:t>
            </a:r>
          </a:p>
          <a:p>
            <a:pPr algn="l">
              <a:spcBef>
                <a:spcPts val="800"/>
              </a:spcBef>
              <a:defRPr sz="2000" b="0">
                <a:solidFill>
                  <a:srgbClr val="2D2D2D"/>
                </a:solidFill>
              </a:defRPr>
            </a:pPr>
            <a:r>
              <a:t>•  Bias-corrected tracking error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바이어스 보정 추종 오차</a:t>
            </a:r>
          </a:p>
          <a:p>
            <a:pPr algn="l">
              <a:spcBef>
                <a:spcPts val="800"/>
              </a:spcBef>
              <a:defRPr sz="2000" b="0">
                <a:solidFill>
                  <a:srgbClr val="2D2D2D"/>
                </a:solidFill>
              </a:defRPr>
            </a:pPr>
            <a:r>
              <a:t>•  Sample age</a:t>
            </a:r>
          </a:p>
          <a:p>
            <a:pPr algn="l">
              <a:spcBef>
                <a:spcPts val="800"/>
              </a:spcBef>
              <a:defRPr sz="2000" b="0">
                <a:solidFill>
                  <a:srgbClr val="2D2D2D"/>
                </a:solidFill>
              </a:defRPr>
            </a:pPr>
            <a:r>
              <a:t>•  Serial RTT / end-to-end delay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종단간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Result 1: Closed-Loop Tracking Is Achieved</a:t>
            </a:r>
          </a:p>
        </p:txBody>
      </p:sp>
      <p:pic>
        <p:nvPicPr>
          <p:cNvPr id="5" name="Picture 4" descr="Fig2_Pitch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0515600" cy="43018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0" y="32918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D2D2D"/>
                </a:solidFill>
              </a:defRPr>
            </a:pPr>
            <a:r>
              <a:t>PX4 follows the step response with consistent phase lag.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999999"/>
                </a:solidFill>
              </a:defRPr>
            </a:pPr>
            <a:r>
              <a:t>일관된 위상 지연으로 스텝 응답 추종</a:t>
            </a:r>
          </a:p>
          <a:p>
            <a:pPr algn="l">
              <a:spcBef>
                <a:spcPts val="1600"/>
              </a:spcBef>
              <a:defRPr sz="800" b="0">
                <a:solidFill>
                  <a:srgbClr val="2D2D2D"/>
                </a:solidFill>
              </a:defRPr>
            </a:pPr>
            <a:endParaRPr/>
          </a:p>
          <a:p>
            <a:pPr algn="l">
              <a:spcBef>
                <a:spcPts val="400"/>
              </a:spcBef>
              <a:defRPr sz="2000" b="0">
                <a:solidFill>
                  <a:srgbClr val="2D2D2D"/>
                </a:solidFill>
              </a:defRPr>
            </a:pPr>
            <a:r>
              <a:t>Residual offset is structured —</a:t>
            </a:r>
            <a:br/>
            <a:r>
              <a:t>explainable bias, not instability.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999999"/>
                </a:solidFill>
              </a:defRPr>
            </a:pPr>
            <a:r>
              <a:t>잔여 오프셋: 불안정이 아닌 설명 가능한 바이어스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1448" y="7772400"/>
            <a:ext cx="13405104" cy="109728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807208" y="813816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</a:defRPr>
            </a:pPr>
            <a:r>
              <a:t>The platform reproduces commanded attitude transitions well enough for quantitative closed-loop validation.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Result 2: Residual Error Is Interpretable</a:t>
            </a:r>
          </a:p>
        </p:txBody>
      </p:sp>
      <p:pic>
        <p:nvPicPr>
          <p:cNvPr id="5" name="Picture 4" descr="Fig3_Pitch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7315200" cy="2793076"/>
          </a:xfrm>
          <a:prstGeom prst="rect">
            <a:avLst/>
          </a:prstGeom>
        </p:spPr>
      </p:pic>
      <p:pic>
        <p:nvPicPr>
          <p:cNvPr id="6" name="Picture 5" descr="Fig4_MountingBias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3108960"/>
            <a:ext cx="7315200" cy="42561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69494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</a:defRPr>
            </a:pPr>
            <a:r>
              <a:t>Bias correction moves error distribution closer to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9494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</a:defRPr>
            </a:pPr>
            <a:r>
              <a:t>Firm-mounted run shows stable offset consistent with mounting bias.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441448" y="7772400"/>
            <a:ext cx="13405104" cy="109728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07208" y="813816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</a:defRPr>
            </a:pPr>
            <a:r>
              <a:t>The dominant residual is not random instability — a fixed bias must be separated from dynamic tracking fidelity.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Result 3: Latency Sets the Fidelity Limit</a:t>
            </a:r>
          </a:p>
        </p:txBody>
      </p:sp>
      <p:pic>
        <p:nvPicPr>
          <p:cNvPr id="5" name="Picture 4" descr="Fig5a_Latency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7772400" cy="3179618"/>
          </a:xfrm>
          <a:prstGeom prst="rect">
            <a:avLst/>
          </a:prstGeom>
        </p:spPr>
      </p:pic>
      <p:pic>
        <p:nvPicPr>
          <p:cNvPr id="6" name="Picture 5" descr="Fig5b_Latency_Distribution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3108960"/>
            <a:ext cx="7772400" cy="33915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68580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4AAD"/>
                </a:solidFill>
              </a:defRPr>
            </a:pPr>
            <a:r>
              <a:t>Serial RTT mean ≈ 22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8580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4AAD"/>
                </a:solidFill>
              </a:defRPr>
            </a:pPr>
            <a:r>
              <a:t>PX4 rx→ACK mean ≈ 41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0" y="68580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4AAD"/>
                </a:solidFill>
              </a:defRPr>
            </a:pPr>
            <a:r>
              <a:t>X-Plane rx→ACK mean ≈ 51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41448" y="7680960"/>
            <a:ext cx="13405104" cy="137160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07208" y="8046720"/>
            <a:ext cx="1267358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</a:defRPr>
            </a:pPr>
            <a:r>
              <a:t>Measured delay and jitter explain the phase lag and define the practical bandwidth of this platform.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Baseline runs show near-zero saturation → nominal timing dominates.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What This Platform Does Not Claim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3040" y="2971800"/>
            <a:ext cx="722376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45920" y="310896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C0392B"/>
                </a:solidFill>
              </a:defRPr>
            </a:pPr>
            <a:r>
              <a:t>Finite Workspace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5204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99999"/>
                </a:solidFill>
              </a:defRPr>
            </a:pPr>
            <a:r>
              <a:t>유한한 작업 영역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93192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Large multi-axis commands reduce</a:t>
            </a:r>
            <a:br/>
            <a:r>
              <a:t>the feasible operating region.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9235440" y="2971800"/>
            <a:ext cx="722376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18320" y="310896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C0392B"/>
                </a:solidFill>
              </a:defRPr>
            </a:pPr>
            <a:r>
              <a:t>No Physical Aerodynamic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35204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99999"/>
                </a:solidFill>
              </a:defRPr>
            </a:pPr>
            <a:r>
              <a:t>공력 하중 미재현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93192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The platform reproduces motion cues,</a:t>
            </a:r>
            <a:br/>
            <a:r>
              <a:t>not full external-force physics.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5715000"/>
            <a:ext cx="722376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45920" y="585216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C0392B"/>
                </a:solidFill>
              </a:defRPr>
            </a:pPr>
            <a:r>
              <a:t>Platform-Level Actuation Limits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62636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99999"/>
                </a:solidFill>
              </a:defRPr>
            </a:pPr>
            <a:r>
              <a:t>플랫폼 구동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667512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Timing, hysteresis, and actuator</a:t>
            </a:r>
            <a:br/>
            <a:r>
              <a:t>constraints shape response fidelity.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5715000"/>
            <a:ext cx="722376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8320" y="585216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C0392B"/>
                </a:solidFill>
              </a:defRPr>
            </a:pPr>
            <a:r>
              <a:t>Not a Flight Replacement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62636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99999"/>
                </a:solidFill>
              </a:defRPr>
            </a:pPr>
            <a:r>
              <a:t>비행 대체 불가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667512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This platform complements conventional</a:t>
            </a:r>
            <a:br/>
            <a:r>
              <a:t>HILS and real flight testing.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41448" y="8595360"/>
            <a:ext cx="13405104" cy="91440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07208" y="8961120"/>
            <a:ext cx="126735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</a:defRPr>
            </a:pPr>
            <a:r>
              <a:t>Correct claim: a practical, measurable, physically informed pre-flight validation layer.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4AAD"/>
                </a:solidFill>
              </a:defRPr>
            </a:pPr>
            <a:r>
              <a:t>Key Results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주요 성과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</a:defRPr>
            </a:pPr>
            <a:r>
              <a:t>1.  Physically closed-loop HILS architecture</a:t>
            </a:r>
            <a:br/>
            <a:r>
              <a:t>implemented: X-Plane + Stewart + PX4.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 물리적 폐루프 HILS 아키텍처 구현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</a:defRPr>
            </a:pPr>
            <a:r>
              <a:t>2.  Closed-loop attitude tracking achieved</a:t>
            </a:r>
            <a:br/>
            <a:r>
              <a:t>and evaluated quantitatively.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 폐루프 자세 추종 달성 및 정량 평가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</a:defRPr>
            </a:pPr>
            <a:r>
              <a:t>3.  Bias and latency are measured and used</a:t>
            </a:r>
            <a:br/>
            <a:r>
              <a:t>to define the platform's true fidelity.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 바이어스·지연 측정으로 실제 충실도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6840" y="3200400"/>
            <a:ext cx="25400" cy="45720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4AAD"/>
                </a:solidFill>
              </a:defRPr>
            </a:pPr>
            <a:r>
              <a:t>Next Steps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향후 과제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</a:defRPr>
            </a:pPr>
            <a:r>
              <a:t>→  Time-aligned error analysis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시간 정렬 기반 오차 분석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</a:defRPr>
            </a:pPr>
            <a:r>
              <a:t>→  Repeatability / hysteresis</a:t>
            </a:r>
            <a:br/>
            <a:r>
              <a:t>characterization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반복성·히스테리시스 특성 분석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</a:defRPr>
            </a:pPr>
            <a:r>
              <a:t>→  Stress tests near workspace</a:t>
            </a:r>
            <a:br/>
            <a:r>
              <a:t>and saturation limits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작업 영역·포화 한계 스트레스 시험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8046720"/>
            <a:ext cx="13405104" cy="146304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07208" y="8412480"/>
            <a:ext cx="1267358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</a:defRPr>
            </a:pPr>
            <a:r>
              <a:t>This platform fills part of the gap between software-only HILS and real flight testing.</a:t>
            </a:r>
          </a:p>
          <a:p>
            <a:pPr algn="ctr">
              <a:spcBef>
                <a:spcPts val="1200"/>
              </a:spcBef>
              <a:defRPr sz="2200" b="1">
                <a:solidFill>
                  <a:srgbClr val="004AAD"/>
                </a:solidFill>
              </a:defRPr>
            </a:pPr>
            <a:r>
              <a:t>Thank you — Questions welcome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Backup: Anticipated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92608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4AAD"/>
                </a:solidFill>
              </a:defRPr>
            </a:pPr>
            <a:r>
              <a:t>"Why z=+20 mm as the neutral position?"</a:t>
            </a:r>
          </a:p>
        </p:txBody>
      </p:sp>
      <p:pic>
        <p:nvPicPr>
          <p:cNvPr id="6" name="Picture 5" descr="rot_worst_vs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566160"/>
            <a:ext cx="5486400" cy="3086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75895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>
                <a:solidFill>
                  <a:srgbClr val="2D2D2D"/>
                </a:solidFill>
              </a:defRPr>
            </a:pPr>
            <a:r>
              <a:t>z=+20 mm → ~20° rotation range</a:t>
            </a:r>
            <a:br/>
            <a:r>
              <a:t>z=0 mm → ~10° (insufficient for ±5° test)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9260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</a:defRPr>
            </a:pPr>
            <a:r>
              <a:t>"Why not conventional HILS?"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</a:defRPr>
            </a:pPr>
            <a:r>
              <a:t>Real inertial excitation that sensor synthesis</a:t>
            </a:r>
            <a:br/>
            <a:r>
              <a:t>cannot provide. → Slides 3 + 10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0" y="29260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</a:defRPr>
            </a:pPr>
            <a:r>
              <a:t>"How do you handle saturation?"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</a:defRPr>
            </a:pPr>
            <a:r>
              <a:t>Baseline ±5° out of ~20° available.</a:t>
            </a:r>
            <a:br/>
            <a:r>
              <a:t>Stress tests planned. → Sl 6+10+11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42519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</a:defRPr>
            </a:pPr>
            <a:r>
              <a:t>"Effective bandwidth?"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</a:defRPr>
            </a:pPr>
            <a:r>
              <a:t>~50 Hz tick, E2E latency ~51 ms.</a:t>
            </a:r>
            <a:br/>
            <a:r>
              <a:t>Low-freq suited. → Sl 5+9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0" y="42519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</a:defRPr>
            </a:pPr>
            <a:r>
              <a:t>"Open-loop platform — pose accuracy?"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</a:defRPr>
            </a:pPr>
            <a:r>
              <a:t>No encoder feedback. PX4 IMU only</a:t>
            </a:r>
            <a:br/>
            <a:r>
              <a:t>physical measurement. → Sl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557784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</a:defRPr>
            </a:pPr>
            <a:r>
              <a:t>"What is mounting bias?"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</a:defRPr>
            </a:pPr>
            <a:r>
              <a:t>~1.8° from FC alignment. Stable</a:t>
            </a:r>
            <a:br/>
            <a:r>
              <a:t>(σ≈0.2°), calibrated. → Sl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0" y="557784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</a:defRPr>
            </a:pPr>
            <a:r>
              <a:t>"How repeatable across runs?"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</a:defRPr>
            </a:pPr>
            <a:r>
              <a:t>5 runs: σ≈0.2° intra, Δ≤0.8° inter.</a:t>
            </a:r>
            <a:br/>
            <a:r>
              <a:t>→ Slides 8+11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690372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</a:defRPr>
            </a:pPr>
            <a:r>
              <a:t>"Extend to quadrotors?"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</a:defRPr>
            </a:pPr>
            <a:r>
              <a:t>Vehicle-agnostic architecture.</a:t>
            </a:r>
            <a:br/>
            <a:r>
              <a:t>Only model + PID change. → Sl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1151</Words>
  <Application>Microsoft Macintosh PowerPoint</Application>
  <PresentationFormat>Custom</PresentationFormat>
  <Paragraphs>181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각진펜 Bold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파란색 배경 현대적인 프로젝트 프레젠테이션</dc:title>
  <cp:lastModifiedBy>현용 정</cp:lastModifiedBy>
  <cp:revision>4</cp:revision>
  <dcterms:created xsi:type="dcterms:W3CDTF">2006-08-16T00:00:00Z</dcterms:created>
  <dcterms:modified xsi:type="dcterms:W3CDTF">2026-03-17T11:54:39Z</dcterms:modified>
  <dc:identifier>DAHELYcEp6c</dc:identifier>
</cp:coreProperties>
</file>