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9"/>
    <p:sldId id="263" r:id="rId8"/>
    <p:sldId id="264" r:id="rId7"/>
    <p:sldId id="265" r:id="rId6"/>
    <p:sldId id="266" r:id="rId20"/>
    <p:sldId id="267" r:id="rId21"/>
    <p:sldId id="268" r:id="rId22"/>
    <p:sldId id="269" r:id="rId23"/>
    <p:sldId id="270" r:id="rId24"/>
    <p:sldId id="271" r:id="rId25"/>
    <p:sldId id="272" r:id="rId26"/>
  </p:sldIdLst>
  <p:sldSz cx="18288000" cy="10287000"/>
  <p:notesSz cx="6858000" cy="9144000"/>
  <p:embeddedFontLst>
    <p:embeddedFont>
      <p:font typeface="각진펜 Bold" charset="1" panose="020B0500000000000000"/>
      <p:regular r:id="rId16"/>
    </p:embeddedFont>
    <p:embeddedFont>
      <p:font typeface="Gotham Bold" charset="1" panose="00000000000000000000"/>
      <p:regular r:id="rId17"/>
    </p:embeddedFont>
    <p:embeddedFont>
      <p:font typeface="Nanum Square" charset="1" panose="020B0600000101010101"/>
      <p:regular r:id="rId18"/>
    </p:embeddedFont>
    <p:embeddedFont>
      <p:font typeface="Gotham" charset="1" panose="000000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0.xml"/><Relationship Id="rId7" Type="http://schemas.openxmlformats.org/officeDocument/2006/relationships/slide" Target="slides/slide9.xml"/><Relationship Id="rId8" Type="http://schemas.openxmlformats.org/officeDocument/2006/relationships/slide" Target="slides/slide8.xml"/><Relationship Id="rId9" Type="http://schemas.openxmlformats.org/officeDocument/2006/relationships/slide" Target="slides/slide7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097280"/>
            <a:ext cx="1463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400">
                <a:solidFill>
                  <a:srgbClr val="004AAD"/>
                </a:solidFill>
                <a:latin typeface="NanumSquare Bold"/>
              </a:defRPr>
            </a:pPr>
            <a:r>
              <a:t>PHYSICALLY CLOSED-LOOP HILS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1463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800"/>
              </a:lnSpc>
              <a:defRPr b="1" sz="5600">
                <a:solidFill>
                  <a:srgbClr val="000000"/>
                </a:solidFill>
                <a:latin typeface="NanumSquare Bold"/>
              </a:defRPr>
            </a:pPr>
            <a:r>
              <a:t>Physically Closed-Loop HILS for</a:t>
            </a:r>
            <a:br/>
            <a:r>
              <a:t>Flight Attitude-Control Validation</a:t>
            </a:r>
          </a:p>
          <a:p>
            <a:pPr algn="ctr">
              <a:spcBef>
                <a:spcPts val="2400"/>
              </a:spcBef>
              <a:defRPr sz="2200" b="1">
                <a:solidFill>
                  <a:srgbClr val="666666"/>
                </a:solidFill>
                <a:latin typeface="NanumSquare Bold"/>
              </a:defRPr>
            </a:pPr>
            <a:r>
              <a:t>Estimator-in-the-Loop Validation Using a Stewart Platform, X-Plane, and PX4</a:t>
            </a:r>
          </a:p>
          <a:p>
            <a:pPr algn="ctr">
              <a:spcBef>
                <a:spcPts val="6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스튜어트 플랫폼 · X-Plane · PX4 기반 추정기-폐루프 자세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64008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000000"/>
                </a:solidFill>
                <a:latin typeface="NanumSquare Bold"/>
              </a:defRPr>
            </a:pPr>
            <a:r>
              <a:t>Spring 2026 KSAS Conference</a:t>
            </a:r>
          </a:p>
          <a:p>
            <a:pPr algn="ctr">
              <a:spcBef>
                <a:spcPts val="600"/>
              </a:spcBef>
              <a:defRPr sz="2000" b="1">
                <a:solidFill>
                  <a:srgbClr val="666666"/>
                </a:solidFill>
                <a:latin typeface="NanumSquare Bold"/>
              </a:defRPr>
            </a:pPr>
            <a:r>
              <a:t>정현용 — 국민대학교 미래모빌리티제어연구실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1/17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Why Add Physical Motion to HILS?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423160"/>
            <a:ext cx="166695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latin typeface="NanumSquare Bold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64592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04AAD"/>
                </a:solidFill>
                <a:latin typeface="NanumSquare Bold"/>
              </a:defRPr>
            </a:pPr>
            <a:r>
              <a:t>Conventional HILS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Simulator computes dynamics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시뮬레이터가 동역학 계산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Controller receives synthetic sensor signals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합성 센서 신호 수신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Attitude evaluated via logs / screens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로그/화면으로만 자세 확인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IMU does not experience real motion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IMU가 실제 관성 운동 미경험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04AAD"/>
                </a:solidFill>
                <a:latin typeface="NanumSquare Bold"/>
              </a:defRPr>
            </a:pPr>
            <a:r>
              <a:t>This Work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Simulator drives real Stewart platform motion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실제 플랫폼 모션 구동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PX4 IMU senses real inertial excitation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PX4 IMU 실제 관성 자극 감지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Measured attitude fed back into loop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측정 자세 → 제어 루프 피드백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Timing and fidelity measured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타이밍·충실도 정량 측정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Fixed-wing first; concept extensible to other vehicles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고정익 우선 실증; 원리적으로 다른 기체에도 확장 가능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6840" y="3291840"/>
            <a:ext cx="25400" cy="438912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00000"/>
                </a:solidFill>
                <a:latin typeface="NanumSquare Bold"/>
              </a:defRPr>
            </a:pPr>
            <a:r>
              <a:t>합성 IMU 주입을 넘어, 실제 모션이 PX4 추정기에 어떻게 반영되는지 검증하는 중간 검증 레이어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What Is New Here?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926080"/>
            <a:ext cx="1463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2D2D2D"/>
                </a:solidFill>
                <a:latin typeface="NanumSquare Bold"/>
              </a:defRPr>
            </a:pPr>
            <a:r>
              <a:t>PX4 추정기가 합성 신호가 아닌 실제 물리적 관성 운동에 반응 — 검증의 질이 달라진다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000">
                <a:solidFill>
                  <a:srgbClr val="004AAD"/>
                </a:solidFill>
                <a:latin typeface="NanumSquare Bold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200">
                <a:solidFill>
                  <a:srgbClr val="2D2D2D"/>
                </a:solidFill>
                <a:latin typeface="NanumSquare Bold"/>
              </a:defRPr>
            </a:pPr>
            <a:r>
              <a:t>Realized Motion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3949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Simulator attitude is converted</a:t>
            </a:r>
            <a:br/>
            <a:r>
              <a:t>into Stewart-platform motion.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시뮬레이터 자세 → 플랫폼 모션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000">
                <a:solidFill>
                  <a:srgbClr val="004AAD"/>
                </a:solidFill>
                <a:latin typeface="NanumSquare Bold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200">
                <a:solidFill>
                  <a:srgbClr val="2D2D2D"/>
                </a:solidFill>
                <a:latin typeface="NanumSquare Bold"/>
              </a:defRPr>
            </a:pPr>
            <a:r>
              <a:t>Physical Sensing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3949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PX4 IMU and estimator respond</a:t>
            </a:r>
            <a:br/>
            <a:r>
              <a:t>to real inertial excitation.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PX4 IMU가 실제 관성 자극에 반응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000">
                <a:solidFill>
                  <a:srgbClr val="004AAD"/>
                </a:solidFill>
                <a:latin typeface="NanumSquare Bold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200">
                <a:solidFill>
                  <a:srgbClr val="2D2D2D"/>
                </a:solidFill>
                <a:latin typeface="NanumSquare Bold"/>
              </a:defRPr>
            </a:pPr>
            <a:r>
              <a:t>Closed-Loop 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53949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Measured attitude is sent back</a:t>
            </a:r>
            <a:br/>
            <a:r>
              <a:t>into the host control loop.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측정된 자세 → 호스트 제어 루프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41448" y="7772400"/>
            <a:ext cx="13405104" cy="146304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8" y="8138160"/>
            <a:ext cx="1267358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800">
                <a:solidFill>
                  <a:srgbClr val="000000"/>
                </a:solidFill>
                <a:latin typeface="NanumSquare Bold"/>
              </a:defRPr>
            </a:pPr>
            <a:r>
              <a:t>구조적으로 특정 기체에 종속되지 않음 — 다른 기체로의 확장 실증은 향후 과제</a:t>
            </a:r>
          </a:p>
          <a:p>
            <a:pPr algn="ctr">
              <a:spcBef>
                <a:spcPts val="600"/>
              </a:spcBef>
              <a:defRPr sz="2000" b="1">
                <a:solidFill>
                  <a:srgbClr val="666666"/>
                </a:solidFill>
                <a:latin typeface="NanumSquare Bold"/>
              </a:defRPr>
            </a:pPr>
            <a:r>
              <a:t>보완적 검증 수단 - 전 영역 공력 재현이 아닌, 추정기 반응 중심의 물리적 검증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System in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108960"/>
            <a:ext cx="7132320" cy="4572000"/>
          </a:xfrm>
          <a:prstGeom prst="rect">
            <a:avLst/>
          </a:prstGeom>
          <a:solidFill>
            <a:srgbClr val="F0F0F0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0" lIns="254000"/>
          <a:lstStyle/>
          <a:p>
            <a:pPr algn="ctr">
              <a:defRPr sz="2200" b="1">
                <a:solidFill>
                  <a:srgbClr val="666666"/>
                </a:solidFill>
                <a:latin typeface="NanumSquare Bold"/>
              </a:defRPr>
            </a:pPr>
            <a:r>
              <a:t>[Insert hardware photo]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스튜어트 플랫폼 + PX4 탑재 사진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3108960"/>
            <a:ext cx="7132320" cy="4572000"/>
          </a:xfrm>
          <a:prstGeom prst="rect">
            <a:avLst/>
          </a:prstGeom>
          <a:solidFill>
            <a:srgbClr val="F0F0F0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0" lIns="254000"/>
          <a:lstStyle/>
          <a:p>
            <a:pPr algn="ctr">
              <a:defRPr sz="2200" b="1">
                <a:solidFill>
                  <a:srgbClr val="666666"/>
                </a:solidFill>
                <a:latin typeface="NanumSquare Bold"/>
              </a:defRPr>
            </a:pPr>
            <a:r>
              <a:t>[Insert demo video]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Trim transition 시나리오 구동 영상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00000"/>
                </a:solidFill>
                <a:latin typeface="NanumSquare Bold"/>
              </a:defRPr>
            </a:pPr>
            <a:r>
              <a:t>X-Plane sim attitude → Stewart platform motion → PX4 IMU sensing → closed-loop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How the Physical Closed Loop Works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3108960"/>
            <a:ext cx="6865668" cy="468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2918493" y="3516862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2918493" y="5081033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5170899" y="6311514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8048974" y="5081033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31089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04AAD"/>
                </a:solidFill>
                <a:latin typeface="NanumSquare Bold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5760" y="314496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b="1" sz="2400">
                <a:solidFill>
                  <a:srgbClr val="2D2D2D"/>
                </a:solidFill>
                <a:latin typeface="NanumSquare Bold"/>
              </a:defRPr>
            </a:pPr>
            <a:r>
              <a:t>X-Plane publishes simulated</a:t>
            </a:r>
            <a:br/>
            <a:r>
              <a:t>vehicle state over UDP.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42976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04AAD"/>
                </a:solidFill>
                <a:latin typeface="NanumSquare Bold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433368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b="1" sz="2400">
                <a:solidFill>
                  <a:srgbClr val="2D2D2D"/>
                </a:solidFill>
                <a:latin typeface="NanumSquare Bold"/>
              </a:defRPr>
            </a:pPr>
            <a:r>
              <a:t>Host converts that state into</a:t>
            </a:r>
            <a:br/>
            <a:r>
              <a:t>platform pose commands.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54864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04AAD"/>
                </a:solidFill>
                <a:latin typeface="NanumSquare Bold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0" y="552240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b="1" sz="2400">
                <a:solidFill>
                  <a:srgbClr val="2D2D2D"/>
                </a:solidFill>
                <a:latin typeface="NanumSquare Bold"/>
              </a:defRPr>
            </a:pPr>
            <a:r>
              <a:t>The Stewart platform creates</a:t>
            </a:r>
            <a:br/>
            <a:r>
              <a:t>real inertial motion for PX4.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6751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04AAD"/>
                </a:solidFill>
                <a:latin typeface="NanumSquare Bold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0" y="671112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b="1" sz="2400">
                <a:solidFill>
                  <a:srgbClr val="2D2D2D"/>
                </a:solidFill>
                <a:latin typeface="NanumSquare Bold"/>
              </a:defRPr>
            </a:pPr>
            <a:r>
              <a:t>PX4 attitude returns to host,</a:t>
            </a:r>
            <a:br/>
            <a:r>
              <a:t>which closes the loop in X-Plane.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8503920"/>
            <a:ext cx="1463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전체 루프 구조를 먼저 확인하고, 이어지는 네 슬라이드에서 블록별 역할과 데이터 흐름을 살펴봅니다.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Block 1 — X-Plane Simulator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7657861" cy="522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638337" y="3603493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1729777" y="543958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4242076" y="681204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7452237" y="543958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3108960"/>
            <a:ext cx="8046720" cy="59436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3337560"/>
            <a:ext cx="7406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4AAD"/>
                </a:solidFill>
                <a:latin typeface="NanumSquare Bold"/>
              </a:defRPr>
            </a:pPr>
            <a:r>
              <a:t>역할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기체 동역학 연산 및 반복 가능한 시나리오 환경 제공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UDP로 기체 상태(자세·위치·속도)를 호스트에 송신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200" b="1">
                <a:solidFill>
                  <a:srgbClr val="004AAD"/>
                </a:solidFill>
                <a:latin typeface="NanumSquare Bold"/>
              </a:defRPr>
            </a:pPr>
            <a:r>
              <a:t>이 시스템에서 달라지는 점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기존에는 X-Plane이 자체적으로 루프를 닫았음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이 구조에서는 물리적으로 센싱된 PX4 자세가 제어 입력으로 돌아옴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Block 2 — Python Host / Bridge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7657861" cy="522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729777" y="3694933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1638337" y="5348145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4242076" y="681204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7452237" y="543958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3108960"/>
            <a:ext cx="8046720" cy="59436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3337560"/>
            <a:ext cx="7406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4AAD"/>
                </a:solidFill>
                <a:latin typeface="NanumSquare Bold"/>
              </a:defRPr>
            </a:pPr>
            <a:r>
              <a:t>수신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X-Plane 상태 (UDP)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PX4 자세 추정값 (MAVLink / USB)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200" b="1">
                <a:solidFill>
                  <a:srgbClr val="004AAD"/>
                </a:solidFill>
                <a:latin typeface="NanumSquare Bold"/>
              </a:defRPr>
            </a:pPr>
            <a:r>
              <a:t>처리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시뮬레이터 상태 → 플랫폼 pose 명령으로 변환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모든 스트림에 공통 타임스탬프를 부여하여 로깅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200" b="1">
                <a:solidFill>
                  <a:srgbClr val="004AAD"/>
                </a:solidFill>
                <a:latin typeface="NanumSquare Bold"/>
              </a:defRPr>
            </a:pPr>
            <a:r>
              <a:t>송신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pose 명령 → 플랫폼 (시리얼)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PX4 자세 → X-Plane 제어 입력으로 주입 (UDP)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Block 3 — Stewart Platform Actuation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7657861" cy="522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729777" y="3694933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1729777" y="543958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4150636" y="6720605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7452237" y="543958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3108960"/>
            <a:ext cx="8046720" cy="59436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3337560"/>
            <a:ext cx="7406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4AAD"/>
                </a:solidFill>
                <a:latin typeface="NanumSquare Bold"/>
              </a:defRPr>
            </a:pPr>
            <a:r>
              <a:t>역할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호스트에서 시리얼로 수신한 pose 명령을 물리적 모션으로 변환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작업 공간과 포화 한계를 적용 (saturator)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200" b="1">
                <a:solidFill>
                  <a:srgbClr val="004AAD"/>
                </a:solidFill>
                <a:latin typeface="NanumSquare Bold"/>
              </a:defRPr>
            </a:pPr>
            <a:r>
              <a:t>호스트에 반환하는 정보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명령 수신 ACK + 처리 소요 시간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포화 플래그 및 스케일링 계수 α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200" b="1">
                <a:solidFill>
                  <a:srgbClr val="004AAD"/>
                </a:solidFill>
                <a:latin typeface="NanumSquare Bold"/>
              </a:defRPr>
            </a:pPr>
            <a:r>
              <a:t>핵심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이 블록 이후부터 PX4가 경험하는 것은 합성 신호가 아닌 실제 관성 운동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Block 4 — PX4 Sensing and Return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7657861" cy="522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729777" y="3694933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1729777" y="543958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4242076" y="681204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7360797" y="5348145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3108960"/>
            <a:ext cx="8046720" cy="59436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3337560"/>
            <a:ext cx="7406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4AAD"/>
                </a:solidFill>
                <a:latin typeface="NanumSquare Bold"/>
              </a:defRPr>
            </a:pPr>
            <a:r>
              <a:t>센싱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온보드 IMU가 플랫폼의 실제 운동을 직접 감지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PX4 추정기가 실시간으로 자세를 산출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200" b="1">
                <a:solidFill>
                  <a:srgbClr val="004AAD"/>
                </a:solidFill>
                <a:latin typeface="NanumSquare Bold"/>
              </a:defRPr>
            </a:pPr>
            <a:r>
              <a:t>귀환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추정된 자세를 MAVLink/USB로 호스트에 전송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호스트가 이 값을 X-Plane에 주입하여 물리 루프 완성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200" b="1">
                <a:solidFill>
                  <a:srgbClr val="004AAD"/>
                </a:solidFill>
                <a:latin typeface="NanumSquare Bold"/>
              </a:defRPr>
            </a:pPr>
            <a:r>
              <a:t>검증 대상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루프에서 유일한 물리적 관측 주체 — 추정기 반응 자체가 검증 목표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What We Tested and How We Measured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3108960"/>
            <a:ext cx="6858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004AAD"/>
                </a:solidFill>
                <a:latin typeface="NanumSquare Bold"/>
              </a:defRPr>
            </a:pPr>
            <a:r>
              <a:t>Baseline Scenario</a:t>
            </a:r>
          </a:p>
          <a:p>
            <a:pPr algn="l">
              <a:spcBef>
                <a:spcPts val="1800"/>
              </a:spcBef>
              <a:defRPr sz="2200" b="1">
                <a:solidFill>
                  <a:srgbClr val="2D2D2D"/>
                </a:solidFill>
                <a:latin typeface="NanumSquare Bold"/>
              </a:defRPr>
            </a:pPr>
            <a:r>
              <a:t>Pitch trim transition:</a:t>
            </a:r>
          </a:p>
          <a:p>
            <a:pPr algn="l">
              <a:spcBef>
                <a:spcPts val="600"/>
              </a:spcBef>
              <a:defRPr sz="2600" b="1">
                <a:solidFill>
                  <a:srgbClr val="004AAD"/>
                </a:solidFill>
                <a:latin typeface="NanumSquare Bold"/>
              </a:defRPr>
            </a:pPr>
            <a:r>
              <a:t>0° → +5° → hold → 0°</a:t>
            </a:r>
          </a:p>
          <a:p>
            <a:pPr algn="l">
              <a:spcBef>
                <a:spcPts val="8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항상 동일 Honolulu (PHNL) 10nm 어프로치로 시작</a:t>
            </a:r>
          </a:p>
          <a:p>
            <a:pPr algn="l">
              <a:spcBef>
                <a:spcPts val="648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스크립트로 적용된 유예 기간 동안 시스템 안정화 후 데이터 수집</a:t>
            </a:r>
          </a:p>
          <a:p>
            <a:pPr algn="l">
              <a:spcBef>
                <a:spcPts val="648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Stewart 플랫폼의 포화 플래그(SAT) 감시; 작업 공간 내 유지</a:t>
            </a:r>
          </a:p>
          <a:p>
            <a:pPr algn="l">
              <a:spcBef>
                <a:spcPts val="648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조건별 9회 반복 실행으로 통계적 유의미성 확보</a:t>
            </a:r>
          </a:p>
          <a:p>
            <a:pPr algn="l">
              <a:spcBef>
                <a:spcPts val="648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z=+20 mm에서 중립자세 설정 (최대 회전)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6840" y="3291840"/>
            <a:ext cx="25400" cy="49377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004AAD"/>
                </a:solidFill>
                <a:latin typeface="NanumSquare Bold"/>
              </a:defRPr>
            </a:pPr>
            <a:r>
              <a:t>Logged Signals</a:t>
            </a:r>
          </a:p>
          <a:p>
            <a:pPr algn="l">
              <a:spcBef>
                <a:spcPts val="10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X-Plane attitude</a:t>
            </a:r>
          </a:p>
          <a:p>
            <a:pPr algn="l">
              <a:spcBef>
                <a:spcPts val="10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PX4 자세 추정값</a:t>
            </a:r>
          </a:p>
          <a:p>
            <a:pPr algn="l">
              <a:spcBef>
                <a:spcPts val="10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플랫폼 pose command</a:t>
            </a:r>
          </a:p>
          <a:p>
            <a:pPr algn="l">
              <a:spcBef>
                <a:spcPts val="10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ACK timing + host timestamps</a:t>
            </a:r>
          </a:p>
          <a:p>
            <a:pPr algn="l">
              <a:spcBef>
                <a:spcPts val="14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600"/>
              </a:spcBef>
              <a:defRPr sz="2400" b="1">
                <a:solidFill>
                  <a:srgbClr val="004AAD"/>
                </a:solidFill>
                <a:latin typeface="NanumSquare Bold"/>
              </a:defRPr>
            </a:pPr>
            <a:r>
              <a:t>Extracted Metrics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Tracking error (raw)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Bias-corrected tracking error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Sample age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Serial RTT / end-to-end delay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00000"/>
                </a:solidFill>
                <a:latin typeface="NanumSquare Bold"/>
              </a:defRPr>
            </a:pPr>
            <a:r>
              <a:t>기본 조건 우선 특성화: 지연·바이어스·장착 효과를 먼저 파악해야 향후 교란·포화 실험에서 원인 분리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Result 1: Closed-Loop Tracking Is Achieved</a:t>
            </a:r>
          </a:p>
        </p:txBody>
      </p:sp>
      <p:pic>
        <p:nvPicPr>
          <p:cNvPr id="5" name="Picture 4" descr="Fig2_Pitch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05156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0" y="32918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>
                <a:latin typeface="NanumSquare Bold"/>
              </a:defRPr>
            </a:pPr>
            <a:r>
              <a:rPr sz="2000" b="1">
                <a:solidFill>
                  <a:srgbClr val="2D2D2D"/>
                </a:solidFill>
                <a:latin typeface="NanumSquare Bold"/>
              </a:rPr>
              <a:t>점선</a:t>
            </a:r>
            <a:r>
              <a:rPr sz="2000" b="1">
                <a:solidFill>
                  <a:srgbClr val="2D2D2D"/>
                </a:solidFill>
                <a:latin typeface="NanumSquare Bold"/>
              </a:rPr>
              <a:t>: 스텝 입력. </a:t>
            </a:r>
            <a:r>
              <a:rPr sz="2000" b="1">
                <a:solidFill>
                  <a:srgbClr val="E67E22"/>
                </a:solidFill>
                <a:latin typeface="NanumSquare Bold"/>
              </a:rPr>
              <a:t>주황선</a:t>
            </a:r>
            <a:r>
              <a:rPr sz="2000" b="1">
                <a:solidFill>
                  <a:srgbClr val="2D2D2D"/>
                </a:solidFill>
                <a:latin typeface="NanumSquare Bold"/>
              </a:rPr>
              <a:t>: FC pitch.
</a:t>
            </a:r>
            <a:r>
              <a:rPr sz="2000" b="1">
                <a:solidFill>
                  <a:srgbClr val="4A90E2"/>
                </a:solidFill>
                <a:latin typeface="NanumSquare Bold"/>
              </a:rPr>
              <a:t>파란 점선</a:t>
            </a:r>
            <a:r>
              <a:rPr sz="2000" b="1">
                <a:solidFill>
                  <a:srgbClr val="2D2D2D"/>
                </a:solidFill>
                <a:latin typeface="NanumSquare Bold"/>
              </a:rPr>
              <a:t>: X-Plane pitch.
</a:t>
            </a:r>
            <a:r>
              <a:rPr sz="2000" b="1">
                <a:solidFill>
                  <a:srgbClr val="004AAD"/>
                </a:solidFill>
                <a:latin typeface="NanumSquare Bold"/>
              </a:rPr>
              <a:t>파랑선</a:t>
            </a:r>
            <a:r>
              <a:rPr sz="2000" b="1">
                <a:solidFill>
                  <a:srgbClr val="2D2D2D"/>
                </a:solidFill>
                <a:latin typeface="NanumSquare Bold"/>
              </a:rPr>
              <a:t>: +1.82° 보정된 X-Plane pitch이며 </a:t>
            </a:r>
            <a:r>
              <a:rPr sz="2000" b="1">
                <a:solidFill>
                  <a:srgbClr val="E67E22"/>
                </a:solidFill>
                <a:latin typeface="NanumSquare Bold"/>
              </a:rPr>
              <a:t>FC pitch</a:t>
            </a:r>
            <a:r>
              <a:rPr sz="2000" b="1">
                <a:solidFill>
                  <a:srgbClr val="2D2D2D"/>
                </a:solidFill>
                <a:latin typeface="NanumSquare Bold"/>
              </a:rPr>
              <a:t>와 거의 일치함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PX4는 일관된 위상 지연을 보이며 스텝을 추종하는 결과를 보임.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잔여 오프셋은 설명 가능한 바이어스임. 실험을 반복해도 일관되게 관찰됨.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00000"/>
                </a:solidFill>
                <a:latin typeface="NanumSquare Bold"/>
              </a:defRPr>
            </a:pPr>
            <a:r>
              <a:t>플랫폼은 정량적 폐루프 검증이 가능할 정도로, 명령된 자세 전이를 충분히 정확하게 재현한다.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Result 2: Residual Error Is Interpretable</a:t>
            </a:r>
          </a:p>
        </p:txBody>
      </p:sp>
      <p:pic>
        <p:nvPicPr>
          <p:cNvPr id="5" name="Picture 4" descr="Fig3_Pitch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7315200" cy="3657600"/>
          </a:xfrm>
          <a:prstGeom prst="rect">
            <a:avLst/>
          </a:prstGeom>
        </p:spPr>
      </p:pic>
      <p:pic>
        <p:nvPicPr>
          <p:cNvPr id="6" name="Picture 5" descr="Fig4_MountingBias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3108960"/>
            <a:ext cx="73152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9494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 i="1">
                <a:solidFill>
                  <a:srgbClr val="666666"/>
                </a:solidFill>
                <a:latin typeface="NanumSquare Bold"/>
              </a:defRPr>
            </a:pPr>
            <a:r>
              <a:t>바이어스 보정을 적용하면 오차 분포가 0에 더 가까워진다.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9494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 i="1">
                <a:solidFill>
                  <a:srgbClr val="666666"/>
                </a:solidFill>
                <a:latin typeface="NanumSquare Bold"/>
              </a:defRPr>
            </a:pPr>
            <a:r>
              <a:t>단단히 고정한 실험에서는 장착 바이어스와 일치하는 안정적인 오프셋이 관찰된다.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00000"/>
                </a:solidFill>
                <a:latin typeface="NanumSquare Bold"/>
              </a:defRPr>
            </a:pPr>
            <a:r>
              <a:t>지배적인 잔여 오차는 무작위 불안정이 아니며, 고정 바이어스는 동적 추종 충실도와 분리해 해석해야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Result 3: Latency Sets the Fidelity Limit</a:t>
            </a:r>
          </a:p>
        </p:txBody>
      </p:sp>
      <p:pic>
        <p:nvPicPr>
          <p:cNvPr id="5" name="Picture 4" descr="Fig5a_Latency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7772400" cy="3474720"/>
          </a:xfrm>
          <a:prstGeom prst="rect">
            <a:avLst/>
          </a:prstGeom>
        </p:spPr>
      </p:pic>
      <p:pic>
        <p:nvPicPr>
          <p:cNvPr id="6" name="Picture 5" descr="Fig5b_Latency_Distribution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3108960"/>
            <a:ext cx="777240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68580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Serial RTT mean ≈ 22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8580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PX4 rx→ACK mean ≈ 41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0" y="68580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X-Plane rx→ACK mean ≈ 51 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00000"/>
                </a:solidFill>
                <a:latin typeface="NanumSquare Bold"/>
              </a:defRPr>
            </a:pPr>
            <a:r>
              <a:t>측정된 지연과 지터가 위상 지연을 설명하며, 이 플랫폼의 실질적 대역폭을 정의한다.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004AAD"/>
                </a:solidFill>
                <a:latin typeface="NanumSquare Bold"/>
              </a:defRPr>
            </a:pPr>
            <a:r>
              <a:t>Key Results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1.  통합: X-Plane + Stewart + PX4를</a:t>
            </a:r>
            <a:br/>
            <a:r>
              <a:t>하나의 물리적 폐루프 구조로 통합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2.  충실도: 폐루프 자세 추종 달성 및 정량적 평가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3.  특성화: 플랫폼의 가능/불가능 범위를</a:t>
            </a:r>
            <a:br/>
            <a:r>
              <a:t>정량적으로 파악 — 향후 확장의 전제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6840" y="3200400"/>
            <a:ext cx="25400" cy="45720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004AAD"/>
                </a:solidFill>
                <a:latin typeface="NanumSquare Bold"/>
              </a:defRPr>
            </a:pPr>
            <a:r>
              <a:t>Next Steps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→  시간 정렬후 오차 분석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→  반복성·히스테리시스 특성 분석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→  작동영역 및 포화 한계 부근 스트레스 테스트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→  멀티로터 등 다른 기체로 확장하여 아키텍처 범용성 실증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00000"/>
                </a:solidFill>
                <a:latin typeface="NanumSquare Bold"/>
              </a:defRPr>
            </a:pPr>
            <a:r>
              <a:t>플랫폼 성능을 정량적으로 특성화하여, SW HILS와 실비행 시험 사이를 잇는 검증 수단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1463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5600">
                <a:solidFill>
                  <a:srgbClr val="000000"/>
                </a:solidFill>
                <a:latin typeface="NanumSquare Bold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572000"/>
            <a:ext cx="1463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999999"/>
                </a:solidFill>
                <a:latin typeface="NanumSquare Bold"/>
              </a:defRPr>
            </a:pPr>
            <a: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5943600"/>
            <a:ext cx="1463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400">
                <a:solidFill>
                  <a:srgbClr val="004AAD"/>
                </a:solidFill>
                <a:latin typeface="NanumSquare Bold"/>
              </a:defRPr>
            </a:pPr>
            <a:r>
              <a:t>Questions welcome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Q&amp;A</a:t>
            </a:r>
          </a:p>
        </p:txBody>
      </p:sp>
      <p:pic>
        <p:nvPicPr>
          <p:cNvPr id="5" name="Picture 4" descr="rot_worst_vs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108960"/>
            <a:ext cx="9144000" cy="5143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344400" y="3291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04AAD"/>
                </a:solidFill>
                <a:latin typeface="NanumSquare Bold"/>
              </a:defRPr>
            </a:pPr>
            <a:r>
              <a:t>z = +20 mm</a:t>
            </a:r>
          </a:p>
          <a:p>
            <a:pPr algn="l">
              <a:spcBef>
                <a:spcPts val="800"/>
              </a:spcBef>
              <a:defRPr sz="2200" b="1">
                <a:solidFill>
                  <a:srgbClr val="2D2D2D"/>
                </a:solidFill>
                <a:latin typeface="NanumSquare Bold"/>
              </a:defRPr>
            </a:pPr>
            <a:r>
              <a:t>→ ~20° rotation range</a:t>
            </a:r>
          </a:p>
          <a:p>
            <a:pPr algn="l">
              <a:spcBef>
                <a:spcPts val="16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Sufficient for ±5° trim test</a:t>
            </a:r>
            <a:br/>
            <a:r>
              <a:t>with large margin.</a:t>
            </a:r>
          </a:p>
          <a:p>
            <a:pPr algn="l">
              <a:spcBef>
                <a:spcPts val="24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800" b="1">
                <a:solidFill>
                  <a:srgbClr val="C0392B"/>
                </a:solidFill>
                <a:latin typeface="NanumSquare Bold"/>
              </a:defRPr>
            </a:pPr>
            <a:r>
              <a:t>z = 0 mm</a:t>
            </a:r>
          </a:p>
          <a:p>
            <a:pPr algn="l">
              <a:spcBef>
                <a:spcPts val="800"/>
              </a:spcBef>
              <a:defRPr sz="2200" b="1">
                <a:solidFill>
                  <a:srgbClr val="2D2D2D"/>
                </a:solidFill>
                <a:latin typeface="NanumSquare Bold"/>
              </a:defRPr>
            </a:pPr>
            <a:r>
              <a:t>→ ~10° rotation range</a:t>
            </a:r>
          </a:p>
          <a:p>
            <a:pPr algn="l">
              <a:spcBef>
                <a:spcPts val="1600"/>
              </a:spcBef>
              <a:defRPr sz="2000" b="1">
                <a:solidFill>
                  <a:srgbClr val="666666"/>
                </a:solidFill>
                <a:latin typeface="NanumSquare Bold"/>
              </a:defRPr>
            </a:pPr>
            <a:r>
              <a:t>Insufficient for ±5° 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301752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Why not conventional HILS?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947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Real inertial excitation that sensor</a:t>
            </a:r>
            <a:br/>
            <a:r>
              <a:t>synthesis cannot provide. → Sl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301752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32004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How do you handle saturation?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7947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Baseline ±5° out of ~20° available.</a:t>
            </a:r>
            <a:br/>
            <a:r>
              <a:t>Stress tests planned. → Sl 8+10+14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1160" y="301752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32004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Effective bandwidth?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37947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~50 Hz tick, E2E latency ~51 ms.</a:t>
            </a:r>
            <a:br/>
            <a:r>
              <a:t>Low-freq maneuvers suited. → Sl 7+13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395960" y="301752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32004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Open-loop platform — pose accuracy?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24560" y="37947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Hobby servos, no encoder. Inclinometer:</a:t>
            </a:r>
            <a:br/>
            <a:r>
              <a:t>~2.1° roll, ~1.5° pitch. → Sl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566928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85216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What is mounting bias?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644652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~1.8° from FC alignment. Stable</a:t>
            </a:r>
            <a:br/>
            <a:r>
              <a:t>(σ ≈ 0.2°), calibrated out. → Sl 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66360" y="566928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585216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How repeatable across runs?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644652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5 runs: σ ≈ 0.2° intra, Δ ≤ 0.8° inter.</a:t>
            </a:r>
            <a:br/>
            <a:r>
              <a:t>→ Sl 12+14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566928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585216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What about yaw?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644652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In the loop, but trim scenario</a:t>
            </a:r>
            <a:br/>
            <a:r>
              <a:t>excites pitch primarily. → Sl 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395960" y="566928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24560" y="585216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Extend to quadrotors?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24560" y="644652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Architecture extensible in principle.</a:t>
            </a:r>
            <a:br/>
            <a:r>
              <a:t>Model + PID change. Future work. → Sl 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DAHELYcEp6c</dc:identifier>
  <dcterms:modified xsi:type="dcterms:W3CDTF">2011-08-01T06:04:30Z</dcterms:modified>
  <cp:revision>1</cp:revision>
  <dc:title>파란색 배경 현대적인 프로젝트 프레젠테이션</dc:title>
</cp:coreProperties>
</file>