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각진펜 Bold" charset="1" panose="020B0500000000000000"/>
      <p:regular r:id="rId16"/>
    </p:embeddedFont>
    <p:embeddedFont>
      <p:font typeface="Gotham Bold" charset="1" panose="00000000000000000000"/>
      <p:regular r:id="rId17"/>
    </p:embeddedFont>
    <p:embeddedFont>
      <p:font typeface="Nanum Square" charset="1" panose="020B0600000101010101"/>
      <p:regular r:id="rId18"/>
    </p:embeddedFont>
    <p:embeddedFont>
      <p:font typeface="Gotham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2752085" y="4495525"/>
            <a:ext cx="12783830" cy="188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0"/>
              </a:lnSpc>
              <a:spcBef>
                <a:spcPct val="0"/>
              </a:spcBef>
            </a:pPr>
            <a:r>
              <a:rPr lang="en-US" b="true" sz="11000" spc="-22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프레젠테이션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4802" y="3183542"/>
            <a:ext cx="12478396" cy="15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b="true" sz="8900" spc="-178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깔끔하고 심플한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5350" y="6559263"/>
            <a:ext cx="851730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누구나</a:t>
            </a:r>
            <a:r>
              <a:rPr lang="en-US" b="true" sz="2200" spc="-44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빠르게 만들고, 쉽게 활용하는 프레젠테이션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5350" y="7837735"/>
            <a:ext cx="85173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작성자 : 이수진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4000" y="2614705"/>
            <a:ext cx="726000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 spc="-48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BASIC &amp; </a:t>
            </a:r>
            <a:r>
              <a:rPr lang="en-US" b="true" sz="2400" spc="-48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SIMPLE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638" y="7079594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58879" y="4129048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긴글이 있는</a:t>
            </a:r>
          </a:p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페이지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4275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14275" y="6026638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4270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4270" y="6026638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92247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92247" y="6026638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8874" y="4129048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사진이</a:t>
            </a: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있는</a:t>
            </a:r>
          </a:p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페이지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36851" y="4129048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</a:t>
            </a: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키워드</a:t>
            </a:r>
          </a:p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페이지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58879" y="6572230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타임라</a:t>
            </a: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인을</a:t>
            </a:r>
          </a:p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나타내는</a:t>
            </a: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페이지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98874" y="6572230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그래프가</a:t>
            </a: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있는</a:t>
            </a:r>
          </a:p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 strike="noStrike" u="none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페이지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36851" y="6572230"/>
            <a:ext cx="3292270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핵심정리</a:t>
            </a:r>
          </a:p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페이지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85350" y="1564007"/>
            <a:ext cx="85173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spc="-8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2439778" y="6762750"/>
            <a:ext cx="13408444" cy="1928425"/>
            <a:chOff x="0" y="0"/>
            <a:chExt cx="3531442" cy="50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1442" cy="507898"/>
            </a:xfrm>
            <a:custGeom>
              <a:avLst/>
              <a:gdLst/>
              <a:ahLst/>
              <a:cxnLst/>
              <a:rect r="r" b="b" t="t" l="l"/>
              <a:pathLst>
                <a:path h="507898" w="3531442">
                  <a:moveTo>
                    <a:pt x="15590" y="0"/>
                  </a:moveTo>
                  <a:lnTo>
                    <a:pt x="3515852" y="0"/>
                  </a:lnTo>
                  <a:cubicBezTo>
                    <a:pt x="3519987" y="0"/>
                    <a:pt x="3523952" y="1642"/>
                    <a:pt x="3526876" y="4566"/>
                  </a:cubicBezTo>
                  <a:cubicBezTo>
                    <a:pt x="3529800" y="7490"/>
                    <a:pt x="3531442" y="11455"/>
                    <a:pt x="3531442" y="15590"/>
                  </a:cubicBezTo>
                  <a:lnTo>
                    <a:pt x="3531442" y="492308"/>
                  </a:lnTo>
                  <a:cubicBezTo>
                    <a:pt x="3531442" y="496443"/>
                    <a:pt x="3529800" y="500408"/>
                    <a:pt x="3526876" y="503332"/>
                  </a:cubicBezTo>
                  <a:cubicBezTo>
                    <a:pt x="3523952" y="506255"/>
                    <a:pt x="3519987" y="507898"/>
                    <a:pt x="3515852" y="507898"/>
                  </a:cubicBezTo>
                  <a:lnTo>
                    <a:pt x="15590" y="507898"/>
                  </a:lnTo>
                  <a:cubicBezTo>
                    <a:pt x="11455" y="507898"/>
                    <a:pt x="7490" y="506255"/>
                    <a:pt x="4566" y="503332"/>
                  </a:cubicBezTo>
                  <a:cubicBezTo>
                    <a:pt x="1642" y="500408"/>
                    <a:pt x="0" y="496443"/>
                    <a:pt x="0" y="492308"/>
                  </a:cubicBezTo>
                  <a:lnTo>
                    <a:pt x="0" y="15590"/>
                  </a:lnTo>
                  <a:cubicBezTo>
                    <a:pt x="0" y="11455"/>
                    <a:pt x="1642" y="7490"/>
                    <a:pt x="4566" y="4566"/>
                  </a:cubicBezTo>
                  <a:cubicBezTo>
                    <a:pt x="7490" y="1642"/>
                    <a:pt x="11455" y="0"/>
                    <a:pt x="15590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31442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43225" y="7468669"/>
            <a:ext cx="538111" cy="516587"/>
          </a:xfrm>
          <a:custGeom>
            <a:avLst/>
            <a:gdLst/>
            <a:ahLst/>
            <a:cxnLst/>
            <a:rect r="r" b="b" t="t" l="l"/>
            <a:pathLst>
              <a:path h="516587" w="538111">
                <a:moveTo>
                  <a:pt x="0" y="0"/>
                </a:moveTo>
                <a:lnTo>
                  <a:pt x="538111" y="0"/>
                </a:lnTo>
                <a:lnTo>
                  <a:pt x="538111" y="516587"/>
                </a:lnTo>
                <a:lnTo>
                  <a:pt x="0" y="516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긴글이 있는 페이지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7918" y="3053883"/>
            <a:ext cx="13752164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페이지는 전달하고자 하는 핵심 내용을 충분히 설명하는 데에 초점을 둡니다. 주제의 배경이나 목적, 전반적인 흐름을 청중이 이해할 수 있도록 문장을 자연스럽게 이어가며 구성하는 것이 중요합니다. 단순 정보 나열이 아니라 이야기하듯 풀어내는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방식으로, 발표자가 내용을 해설하며 청중의 몰입을 유도할 수 있도록 돕습니다.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텍스트가 많은 만큼 가독성을 높이는 것이 핵심입니다.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문단을 2~3개로 나누어 핵심 주제를 중심으로 전개하고, 중요한 문장은 강조하거나 단독으로 배치해 시선을 끌 수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있도록 합니다. 여백과 행간을 넉넉히 두고, 시각적 장식은 최소화하여 내용 전달에 집중하는 구성이 이상적입니다.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29917" y="7208011"/>
            <a:ext cx="11922544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 spc="-53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 페이지는 핵심</a:t>
            </a:r>
            <a:r>
              <a:rPr lang="en-US" b="true" sz="1800" spc="-53" strike="noStrike" u="non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주제의 배경과 맥락을 설명하여 누구나 쉽게 이해할 수 있도록 돕습니다.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 spc="-53" strike="noStrike" u="non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중요한 정보는 자연스럽게 강조하며 문장을 간결하게 정리해 가독성을 높이는 것이 좋습니다.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 spc="-53" strike="noStrike" u="non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마지막에는 내용을 간단히 요약하고 다음 내용과 자연스럽게 이어지도록 마무리하는 것이 효과적입니다.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사진이 있는 페이지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23525" y="3546459"/>
            <a:ext cx="6623081" cy="5008024"/>
            <a:chOff x="0" y="0"/>
            <a:chExt cx="1026089" cy="775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089" cy="775874"/>
            </a:xfrm>
            <a:custGeom>
              <a:avLst/>
              <a:gdLst/>
              <a:ahLst/>
              <a:cxnLst/>
              <a:rect r="r" b="b" t="t" l="l"/>
              <a:pathLst>
                <a:path h="775874" w="1026089">
                  <a:moveTo>
                    <a:pt x="0" y="0"/>
                  </a:moveTo>
                  <a:lnTo>
                    <a:pt x="1026089" y="0"/>
                  </a:lnTo>
                  <a:lnTo>
                    <a:pt x="1026089" y="775874"/>
                  </a:lnTo>
                  <a:lnTo>
                    <a:pt x="0" y="775874"/>
                  </a:lnTo>
                  <a:close/>
                </a:path>
              </a:pathLst>
            </a:custGeom>
            <a:blipFill>
              <a:blip r:embed="rId3"/>
              <a:stretch>
                <a:fillRect l="-6746" t="0" r="-6746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144000" y="3441684"/>
            <a:ext cx="7331494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시각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요소는 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복잡한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메시지를 간결하고 직관적으로 전달하는 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강력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한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도구입니다. 본 페이지에서는 이미지와 레이아웃을 전략적으로 활용하여 핵심 메시지를 강조하고, 청중의 이해도를 높이며 전달력을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극대화합니다. 특히 고객 사용 사례와 제품 이미지를 병렬로 배치함으로써 변화의 흐름과 전략적 개선점을 한눈에 파악할 수 있도록 구성되었습니다.시각 중심의 커뮤니케이션은 메시지를 빠르게 각인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시키고, 설득력을 높이는 데 효과적입니다.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7349958"/>
            <a:ext cx="7331494" cy="1204525"/>
            <a:chOff x="0" y="0"/>
            <a:chExt cx="1930929" cy="3172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0929" cy="317241"/>
            </a:xfrm>
            <a:custGeom>
              <a:avLst/>
              <a:gdLst/>
              <a:ahLst/>
              <a:cxnLst/>
              <a:rect r="r" b="b" t="t" l="l"/>
              <a:pathLst>
                <a:path h="317241" w="1930929">
                  <a:moveTo>
                    <a:pt x="21120" y="0"/>
                  </a:moveTo>
                  <a:lnTo>
                    <a:pt x="1909809" y="0"/>
                  </a:lnTo>
                  <a:cubicBezTo>
                    <a:pt x="1915410" y="0"/>
                    <a:pt x="1920782" y="2225"/>
                    <a:pt x="1924743" y="6186"/>
                  </a:cubicBezTo>
                  <a:cubicBezTo>
                    <a:pt x="1928704" y="10146"/>
                    <a:pt x="1930929" y="15518"/>
                    <a:pt x="1930929" y="21120"/>
                  </a:cubicBezTo>
                  <a:lnTo>
                    <a:pt x="1930929" y="296122"/>
                  </a:lnTo>
                  <a:cubicBezTo>
                    <a:pt x="1930929" y="307786"/>
                    <a:pt x="1921473" y="317241"/>
                    <a:pt x="1909809" y="317241"/>
                  </a:cubicBezTo>
                  <a:lnTo>
                    <a:pt x="21120" y="317241"/>
                  </a:lnTo>
                  <a:cubicBezTo>
                    <a:pt x="15518" y="317241"/>
                    <a:pt x="10146" y="315016"/>
                    <a:pt x="6186" y="311055"/>
                  </a:cubicBezTo>
                  <a:cubicBezTo>
                    <a:pt x="2225" y="307095"/>
                    <a:pt x="0" y="301723"/>
                    <a:pt x="0" y="296122"/>
                  </a:cubicBezTo>
                  <a:lnTo>
                    <a:pt x="0" y="21120"/>
                  </a:lnTo>
                  <a:cubicBezTo>
                    <a:pt x="0" y="9456"/>
                    <a:pt x="9456" y="0"/>
                    <a:pt x="21120" y="0"/>
                  </a:cubicBezTo>
                  <a:close/>
                </a:path>
              </a:pathLst>
            </a:custGeom>
            <a:solidFill>
              <a:srgbClr val="EAF3FF"/>
            </a:solidFill>
            <a:ln w="2857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30929" cy="355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46522" y="7622655"/>
            <a:ext cx="628845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시각 요소를 활용해 메시지를 직관적으로 전달하고,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36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이해도와 설득력을 동시에 높입니다.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359834" y="7693927"/>
            <a:ext cx="538111" cy="516587"/>
          </a:xfrm>
          <a:custGeom>
            <a:avLst/>
            <a:gdLst/>
            <a:ahLst/>
            <a:cxnLst/>
            <a:rect r="r" b="b" t="t" l="l"/>
            <a:pathLst>
              <a:path h="516587" w="538111">
                <a:moveTo>
                  <a:pt x="0" y="0"/>
                </a:moveTo>
                <a:lnTo>
                  <a:pt x="538111" y="0"/>
                </a:lnTo>
                <a:lnTo>
                  <a:pt x="538111" y="516586"/>
                </a:lnTo>
                <a:lnTo>
                  <a:pt x="0" y="516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61678" y="3777391"/>
            <a:ext cx="4364644" cy="43646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32002" lIns="32002" bIns="32002" rIns="32002"/>
            <a:lstStyle/>
            <a:p>
              <a:pPr algn="ctr">
                <a:lnSpc>
                  <a:spcPts val="11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5855836" y="7362835"/>
            <a:ext cx="1692393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2208695" y="6579592"/>
            <a:ext cx="3683011" cy="1631407"/>
            <a:chOff x="0" y="0"/>
            <a:chExt cx="970011" cy="429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0011" cy="429671"/>
            </a:xfrm>
            <a:custGeom>
              <a:avLst/>
              <a:gdLst/>
              <a:ahLst/>
              <a:cxnLst/>
              <a:rect r="r" b="b" t="t" l="l"/>
              <a:pathLst>
                <a:path h="429671" w="970011">
                  <a:moveTo>
                    <a:pt x="42041" y="0"/>
                  </a:moveTo>
                  <a:lnTo>
                    <a:pt x="927970" y="0"/>
                  </a:lnTo>
                  <a:cubicBezTo>
                    <a:pt x="939120" y="0"/>
                    <a:pt x="949813" y="4429"/>
                    <a:pt x="957698" y="12314"/>
                  </a:cubicBezTo>
                  <a:cubicBezTo>
                    <a:pt x="965582" y="20198"/>
                    <a:pt x="970011" y="30891"/>
                    <a:pt x="970011" y="42041"/>
                  </a:cubicBezTo>
                  <a:lnTo>
                    <a:pt x="970011" y="387630"/>
                  </a:lnTo>
                  <a:cubicBezTo>
                    <a:pt x="970011" y="410848"/>
                    <a:pt x="951189" y="429671"/>
                    <a:pt x="927970" y="429671"/>
                  </a:cubicBezTo>
                  <a:lnTo>
                    <a:pt x="42041" y="429671"/>
                  </a:lnTo>
                  <a:cubicBezTo>
                    <a:pt x="18823" y="429671"/>
                    <a:pt x="0" y="410848"/>
                    <a:pt x="0" y="387630"/>
                  </a:cubicBezTo>
                  <a:lnTo>
                    <a:pt x="0" y="42041"/>
                  </a:lnTo>
                  <a:cubicBezTo>
                    <a:pt x="0" y="18823"/>
                    <a:pt x="18823" y="0"/>
                    <a:pt x="4204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0011" cy="46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855836" y="4802729"/>
            <a:ext cx="1534015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7291596" y="6281103"/>
            <a:ext cx="3704808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6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프로젝트가 달성하고자 하는</a:t>
            </a:r>
          </a:p>
          <a:p>
            <a:pPr algn="ctr" marL="0" indent="0" lvl="0">
              <a:lnSpc>
                <a:spcPts val="2940"/>
              </a:lnSpc>
            </a:pPr>
            <a:r>
              <a:rPr lang="en-US" sz="2100" spc="-6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구체적이고</a:t>
            </a:r>
            <a:r>
              <a:rPr lang="en-US" sz="2100" spc="-63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명확한 방향을</a:t>
            </a:r>
          </a:p>
          <a:p>
            <a:pPr algn="ctr" marL="0" indent="0" lvl="0">
              <a:lnSpc>
                <a:spcPts val="2940"/>
              </a:lnSpc>
            </a:pPr>
            <a:r>
              <a:rPr lang="en-US" sz="2100" spc="-63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정하는 단계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754234" y="7362835"/>
            <a:ext cx="1888799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643033" y="6510628"/>
            <a:ext cx="3683011" cy="1631407"/>
            <a:chOff x="0" y="0"/>
            <a:chExt cx="970011" cy="429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0011" cy="429671"/>
            </a:xfrm>
            <a:custGeom>
              <a:avLst/>
              <a:gdLst/>
              <a:ahLst/>
              <a:cxnLst/>
              <a:rect r="r" b="b" t="t" l="l"/>
              <a:pathLst>
                <a:path h="429671" w="970011">
                  <a:moveTo>
                    <a:pt x="42041" y="0"/>
                  </a:moveTo>
                  <a:lnTo>
                    <a:pt x="927970" y="0"/>
                  </a:lnTo>
                  <a:cubicBezTo>
                    <a:pt x="939120" y="0"/>
                    <a:pt x="949813" y="4429"/>
                    <a:pt x="957698" y="12314"/>
                  </a:cubicBezTo>
                  <a:cubicBezTo>
                    <a:pt x="965582" y="20198"/>
                    <a:pt x="970011" y="30891"/>
                    <a:pt x="970011" y="42041"/>
                  </a:cubicBezTo>
                  <a:lnTo>
                    <a:pt x="970011" y="387630"/>
                  </a:lnTo>
                  <a:cubicBezTo>
                    <a:pt x="970011" y="410848"/>
                    <a:pt x="951189" y="429671"/>
                    <a:pt x="927970" y="429671"/>
                  </a:cubicBezTo>
                  <a:lnTo>
                    <a:pt x="42041" y="429671"/>
                  </a:lnTo>
                  <a:cubicBezTo>
                    <a:pt x="18823" y="429671"/>
                    <a:pt x="0" y="410848"/>
                    <a:pt x="0" y="387630"/>
                  </a:cubicBezTo>
                  <a:lnTo>
                    <a:pt x="0" y="42041"/>
                  </a:lnTo>
                  <a:cubicBezTo>
                    <a:pt x="0" y="18823"/>
                    <a:pt x="18823" y="0"/>
                    <a:pt x="4204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0011" cy="46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0898155" y="4802729"/>
            <a:ext cx="1744878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2643033" y="3987025"/>
            <a:ext cx="3683011" cy="1631407"/>
            <a:chOff x="0" y="0"/>
            <a:chExt cx="970011" cy="429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0011" cy="429671"/>
            </a:xfrm>
            <a:custGeom>
              <a:avLst/>
              <a:gdLst/>
              <a:ahLst/>
              <a:cxnLst/>
              <a:rect r="r" b="b" t="t" l="l"/>
              <a:pathLst>
                <a:path h="429671" w="970011">
                  <a:moveTo>
                    <a:pt x="42041" y="0"/>
                  </a:moveTo>
                  <a:lnTo>
                    <a:pt x="927970" y="0"/>
                  </a:lnTo>
                  <a:cubicBezTo>
                    <a:pt x="939120" y="0"/>
                    <a:pt x="949813" y="4429"/>
                    <a:pt x="957698" y="12314"/>
                  </a:cubicBezTo>
                  <a:cubicBezTo>
                    <a:pt x="965582" y="20198"/>
                    <a:pt x="970011" y="30891"/>
                    <a:pt x="970011" y="42041"/>
                  </a:cubicBezTo>
                  <a:lnTo>
                    <a:pt x="970011" y="387630"/>
                  </a:lnTo>
                  <a:cubicBezTo>
                    <a:pt x="970011" y="410848"/>
                    <a:pt x="951189" y="429671"/>
                    <a:pt x="927970" y="429671"/>
                  </a:cubicBezTo>
                  <a:lnTo>
                    <a:pt x="42041" y="429671"/>
                  </a:lnTo>
                  <a:cubicBezTo>
                    <a:pt x="18823" y="429671"/>
                    <a:pt x="0" y="410848"/>
                    <a:pt x="0" y="387630"/>
                  </a:cubicBezTo>
                  <a:lnTo>
                    <a:pt x="0" y="42041"/>
                  </a:lnTo>
                  <a:cubicBezTo>
                    <a:pt x="0" y="18823"/>
                    <a:pt x="18823" y="0"/>
                    <a:pt x="4204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70011" cy="46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08695" y="3987025"/>
            <a:ext cx="3683011" cy="1631407"/>
            <a:chOff x="0" y="0"/>
            <a:chExt cx="970011" cy="4296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0011" cy="429671"/>
            </a:xfrm>
            <a:custGeom>
              <a:avLst/>
              <a:gdLst/>
              <a:ahLst/>
              <a:cxnLst/>
              <a:rect r="r" b="b" t="t" l="l"/>
              <a:pathLst>
                <a:path h="429671" w="970011">
                  <a:moveTo>
                    <a:pt x="42041" y="0"/>
                  </a:moveTo>
                  <a:lnTo>
                    <a:pt x="927970" y="0"/>
                  </a:lnTo>
                  <a:cubicBezTo>
                    <a:pt x="939120" y="0"/>
                    <a:pt x="949813" y="4429"/>
                    <a:pt x="957698" y="12314"/>
                  </a:cubicBezTo>
                  <a:cubicBezTo>
                    <a:pt x="965582" y="20198"/>
                    <a:pt x="970011" y="30891"/>
                    <a:pt x="970011" y="42041"/>
                  </a:cubicBezTo>
                  <a:lnTo>
                    <a:pt x="970011" y="387630"/>
                  </a:lnTo>
                  <a:cubicBezTo>
                    <a:pt x="970011" y="410848"/>
                    <a:pt x="951189" y="429671"/>
                    <a:pt x="927970" y="429671"/>
                  </a:cubicBezTo>
                  <a:lnTo>
                    <a:pt x="42041" y="429671"/>
                  </a:lnTo>
                  <a:cubicBezTo>
                    <a:pt x="18823" y="429671"/>
                    <a:pt x="0" y="410848"/>
                    <a:pt x="0" y="387630"/>
                  </a:cubicBezTo>
                  <a:lnTo>
                    <a:pt x="0" y="42041"/>
                  </a:lnTo>
                  <a:cubicBezTo>
                    <a:pt x="0" y="18823"/>
                    <a:pt x="18823" y="0"/>
                    <a:pt x="4204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70011" cy="46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핵심키워드 페이지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26630" y="6887032"/>
            <a:ext cx="36471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자원 관리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14126" y="7400281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프로젝트 진행에 필요한 모든 자원을 효율적으로 배분하고 관리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60968" y="6818068"/>
            <a:ext cx="36471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성과 평가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48464" y="7331317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결과를 분석하고 평가하여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성공 여부를 판단하며, 개선점을 도출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91596" y="5743098"/>
            <a:ext cx="3704808" cy="39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b="true" sz="240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목표 설정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26630" y="4294465"/>
            <a:ext cx="36471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전략 수립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60968" y="4294465"/>
            <a:ext cx="36471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실행 계획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14126" y="4807714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목표를 효과적으로 달성하기 위해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실행할 계획과 방법을 체계적으로 설계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48464" y="4807714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수립한 전략을 바탕으로 구체적인 작업 일정과 과업을 계획하고 실행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745439" y="4510048"/>
            <a:ext cx="1043860" cy="1071125"/>
          </a:xfrm>
          <a:custGeom>
            <a:avLst/>
            <a:gdLst/>
            <a:ahLst/>
            <a:cxnLst/>
            <a:rect r="r" b="b" t="t" l="l"/>
            <a:pathLst>
              <a:path h="1071125" w="1043860">
                <a:moveTo>
                  <a:pt x="0" y="0"/>
                </a:moveTo>
                <a:lnTo>
                  <a:pt x="1043861" y="0"/>
                </a:lnTo>
                <a:lnTo>
                  <a:pt x="1043861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51146" y="3954813"/>
            <a:ext cx="3283900" cy="2607683"/>
            <a:chOff x="0" y="0"/>
            <a:chExt cx="835045" cy="6630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47151" y="0"/>
                  </a:moveTo>
                  <a:lnTo>
                    <a:pt x="787895" y="0"/>
                  </a:lnTo>
                  <a:cubicBezTo>
                    <a:pt x="813935" y="0"/>
                    <a:pt x="835045" y="21110"/>
                    <a:pt x="835045" y="47151"/>
                  </a:cubicBezTo>
                  <a:lnTo>
                    <a:pt x="835045" y="615943"/>
                  </a:lnTo>
                  <a:cubicBezTo>
                    <a:pt x="835045" y="628448"/>
                    <a:pt x="830078" y="640441"/>
                    <a:pt x="821235" y="649284"/>
                  </a:cubicBezTo>
                  <a:cubicBezTo>
                    <a:pt x="812393" y="658126"/>
                    <a:pt x="800400" y="663094"/>
                    <a:pt x="787895" y="663094"/>
                  </a:cubicBezTo>
                  <a:lnTo>
                    <a:pt x="47151" y="663094"/>
                  </a:lnTo>
                  <a:cubicBezTo>
                    <a:pt x="21110" y="663094"/>
                    <a:pt x="0" y="641984"/>
                    <a:pt x="0" y="615943"/>
                  </a:cubicBezTo>
                  <a:lnTo>
                    <a:pt x="0" y="47151"/>
                  </a:lnTo>
                  <a:cubicBezTo>
                    <a:pt x="0" y="34646"/>
                    <a:pt x="4968" y="22653"/>
                    <a:pt x="13810" y="13810"/>
                  </a:cubicBezTo>
                  <a:cubicBezTo>
                    <a:pt x="22653" y="4968"/>
                    <a:pt x="34646" y="0"/>
                    <a:pt x="4715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85082" y="3954813"/>
            <a:ext cx="3283900" cy="2607683"/>
            <a:chOff x="0" y="0"/>
            <a:chExt cx="835045" cy="663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47151" y="0"/>
                  </a:moveTo>
                  <a:lnTo>
                    <a:pt x="787895" y="0"/>
                  </a:lnTo>
                  <a:cubicBezTo>
                    <a:pt x="813935" y="0"/>
                    <a:pt x="835045" y="21110"/>
                    <a:pt x="835045" y="47151"/>
                  </a:cubicBezTo>
                  <a:lnTo>
                    <a:pt x="835045" y="615943"/>
                  </a:lnTo>
                  <a:cubicBezTo>
                    <a:pt x="835045" y="628448"/>
                    <a:pt x="830078" y="640441"/>
                    <a:pt x="821235" y="649284"/>
                  </a:cubicBezTo>
                  <a:cubicBezTo>
                    <a:pt x="812393" y="658126"/>
                    <a:pt x="800400" y="663094"/>
                    <a:pt x="787895" y="663094"/>
                  </a:cubicBezTo>
                  <a:lnTo>
                    <a:pt x="47151" y="663094"/>
                  </a:lnTo>
                  <a:cubicBezTo>
                    <a:pt x="21110" y="663094"/>
                    <a:pt x="0" y="641984"/>
                    <a:pt x="0" y="615943"/>
                  </a:cubicBezTo>
                  <a:lnTo>
                    <a:pt x="0" y="47151"/>
                  </a:lnTo>
                  <a:cubicBezTo>
                    <a:pt x="0" y="34646"/>
                    <a:pt x="4968" y="22653"/>
                    <a:pt x="13810" y="13810"/>
                  </a:cubicBezTo>
                  <a:cubicBezTo>
                    <a:pt x="22653" y="4968"/>
                    <a:pt x="34646" y="0"/>
                    <a:pt x="4715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19018" y="3954813"/>
            <a:ext cx="3283900" cy="2607683"/>
            <a:chOff x="0" y="0"/>
            <a:chExt cx="835045" cy="6630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47151" y="0"/>
                  </a:moveTo>
                  <a:lnTo>
                    <a:pt x="787895" y="0"/>
                  </a:lnTo>
                  <a:cubicBezTo>
                    <a:pt x="813935" y="0"/>
                    <a:pt x="835045" y="21110"/>
                    <a:pt x="835045" y="47151"/>
                  </a:cubicBezTo>
                  <a:lnTo>
                    <a:pt x="835045" y="615943"/>
                  </a:lnTo>
                  <a:cubicBezTo>
                    <a:pt x="835045" y="628448"/>
                    <a:pt x="830078" y="640441"/>
                    <a:pt x="821235" y="649284"/>
                  </a:cubicBezTo>
                  <a:cubicBezTo>
                    <a:pt x="812393" y="658126"/>
                    <a:pt x="800400" y="663094"/>
                    <a:pt x="787895" y="663094"/>
                  </a:cubicBezTo>
                  <a:lnTo>
                    <a:pt x="47151" y="663094"/>
                  </a:lnTo>
                  <a:cubicBezTo>
                    <a:pt x="21110" y="663094"/>
                    <a:pt x="0" y="641984"/>
                    <a:pt x="0" y="615943"/>
                  </a:cubicBezTo>
                  <a:lnTo>
                    <a:pt x="0" y="47151"/>
                  </a:lnTo>
                  <a:cubicBezTo>
                    <a:pt x="0" y="34646"/>
                    <a:pt x="4968" y="22653"/>
                    <a:pt x="13810" y="13810"/>
                  </a:cubicBezTo>
                  <a:cubicBezTo>
                    <a:pt x="22653" y="4968"/>
                    <a:pt x="34646" y="0"/>
                    <a:pt x="4715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52954" y="3954813"/>
            <a:ext cx="3283900" cy="2607683"/>
            <a:chOff x="0" y="0"/>
            <a:chExt cx="835045" cy="6630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47151" y="0"/>
                  </a:moveTo>
                  <a:lnTo>
                    <a:pt x="787895" y="0"/>
                  </a:lnTo>
                  <a:cubicBezTo>
                    <a:pt x="813935" y="0"/>
                    <a:pt x="835045" y="21110"/>
                    <a:pt x="835045" y="47151"/>
                  </a:cubicBezTo>
                  <a:lnTo>
                    <a:pt x="835045" y="615943"/>
                  </a:lnTo>
                  <a:cubicBezTo>
                    <a:pt x="835045" y="628448"/>
                    <a:pt x="830078" y="640441"/>
                    <a:pt x="821235" y="649284"/>
                  </a:cubicBezTo>
                  <a:cubicBezTo>
                    <a:pt x="812393" y="658126"/>
                    <a:pt x="800400" y="663094"/>
                    <a:pt x="787895" y="663094"/>
                  </a:cubicBezTo>
                  <a:lnTo>
                    <a:pt x="47151" y="663094"/>
                  </a:lnTo>
                  <a:cubicBezTo>
                    <a:pt x="21110" y="663094"/>
                    <a:pt x="0" y="641984"/>
                    <a:pt x="0" y="615943"/>
                  </a:cubicBezTo>
                  <a:lnTo>
                    <a:pt x="0" y="47151"/>
                  </a:lnTo>
                  <a:cubicBezTo>
                    <a:pt x="0" y="34646"/>
                    <a:pt x="4968" y="22653"/>
                    <a:pt x="13810" y="13810"/>
                  </a:cubicBezTo>
                  <a:cubicBezTo>
                    <a:pt x="22653" y="4968"/>
                    <a:pt x="34646" y="0"/>
                    <a:pt x="47151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2369532" y="7438446"/>
            <a:ext cx="2647128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003468" y="7438446"/>
            <a:ext cx="2647128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637404" y="7438446"/>
            <a:ext cx="2647128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271340" y="7438446"/>
            <a:ext cx="2647128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3171166" y="5026010"/>
            <a:ext cx="1043860" cy="1071125"/>
          </a:xfrm>
          <a:custGeom>
            <a:avLst/>
            <a:gdLst/>
            <a:ahLst/>
            <a:cxnLst/>
            <a:rect r="r" b="b" t="t" l="l"/>
            <a:pathLst>
              <a:path h="1071125" w="1043860">
                <a:moveTo>
                  <a:pt x="0" y="0"/>
                </a:moveTo>
                <a:lnTo>
                  <a:pt x="1043861" y="0"/>
                </a:lnTo>
                <a:lnTo>
                  <a:pt x="1043861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805102" y="5026010"/>
            <a:ext cx="987383" cy="1071125"/>
          </a:xfrm>
          <a:custGeom>
            <a:avLst/>
            <a:gdLst/>
            <a:ahLst/>
            <a:cxnLst/>
            <a:rect r="r" b="b" t="t" l="l"/>
            <a:pathLst>
              <a:path h="1071125" w="987383">
                <a:moveTo>
                  <a:pt x="0" y="0"/>
                </a:moveTo>
                <a:lnTo>
                  <a:pt x="987383" y="0"/>
                </a:lnTo>
                <a:lnTo>
                  <a:pt x="987383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435832" y="5066260"/>
            <a:ext cx="1030875" cy="1030875"/>
          </a:xfrm>
          <a:custGeom>
            <a:avLst/>
            <a:gdLst/>
            <a:ahLst/>
            <a:cxnLst/>
            <a:rect r="r" b="b" t="t" l="l"/>
            <a:pathLst>
              <a:path h="1030875" w="1030875">
                <a:moveTo>
                  <a:pt x="0" y="0"/>
                </a:moveTo>
                <a:lnTo>
                  <a:pt x="1030875" y="0"/>
                </a:lnTo>
                <a:lnTo>
                  <a:pt x="1030875" y="1030875"/>
                </a:lnTo>
                <a:lnTo>
                  <a:pt x="0" y="1030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69768" y="5066260"/>
            <a:ext cx="1030875" cy="1030875"/>
          </a:xfrm>
          <a:custGeom>
            <a:avLst/>
            <a:gdLst/>
            <a:ahLst/>
            <a:cxnLst/>
            <a:rect r="r" b="b" t="t" l="l"/>
            <a:pathLst>
              <a:path h="1030875" w="1030875">
                <a:moveTo>
                  <a:pt x="0" y="0"/>
                </a:moveTo>
                <a:lnTo>
                  <a:pt x="1030875" y="0"/>
                </a:lnTo>
                <a:lnTo>
                  <a:pt x="1030875" y="1030875"/>
                </a:lnTo>
                <a:lnTo>
                  <a:pt x="0" y="10308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핵심키워드 페이지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58952" y="4284470"/>
            <a:ext cx="24682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목표 설정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58952" y="6953021"/>
            <a:ext cx="24682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명확한 방향 설정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92887" y="6953021"/>
            <a:ext cx="24682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체계적인 사전 준비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6823" y="6953021"/>
            <a:ext cx="24682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계획의 실현 단계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0759" y="6953021"/>
            <a:ext cx="24682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결과에 대한 분석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92887" y="4284470"/>
            <a:ext cx="24682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계획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26823" y="4284470"/>
            <a:ext cx="24682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실행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0759" y="4284470"/>
            <a:ext cx="24682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평가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57022" y="7663548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프로젝트의 목적과 지향점을 분명히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하여 모든 과정의 기준을 마련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90957" y="7663548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필요한 자원과 일정, 실행 방법을 미리 정리해 효과적인 진행을 준비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24893" y="7663548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수립한 계획에 따라 실제 업무를 진행하고, 중간 점검을 통해 방향을 유지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58829" y="7663548"/>
            <a:ext cx="307214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성과를 측정하고 부족한 점을 점검해, 다음 단계로의 개선을 도모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타임라인을 나타내는 페이지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321607" y="5811106"/>
            <a:ext cx="2882334" cy="503737"/>
            <a:chOff x="0" y="0"/>
            <a:chExt cx="2325381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25381" cy="406400"/>
            </a:xfrm>
            <a:custGeom>
              <a:avLst/>
              <a:gdLst/>
              <a:ahLst/>
              <a:cxnLst/>
              <a:rect r="r" b="b" t="t" l="l"/>
              <a:pathLst>
                <a:path h="406400" w="2325381">
                  <a:moveTo>
                    <a:pt x="212218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22181" y="406400"/>
                  </a:lnTo>
                  <a:lnTo>
                    <a:pt x="2325381" y="203200"/>
                  </a:lnTo>
                  <a:lnTo>
                    <a:pt x="2122181" y="0"/>
                  </a:lnTo>
                  <a:close/>
                </a:path>
              </a:pathLst>
            </a:custGeom>
            <a:solidFill>
              <a:srgbClr val="DBE9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1108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03941" y="5811106"/>
            <a:ext cx="2690613" cy="503737"/>
            <a:chOff x="0" y="0"/>
            <a:chExt cx="2170706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0706" cy="406400"/>
            </a:xfrm>
            <a:custGeom>
              <a:avLst/>
              <a:gdLst/>
              <a:ahLst/>
              <a:cxnLst/>
              <a:rect r="r" b="b" t="t" l="l"/>
              <a:pathLst>
                <a:path h="406400" w="2170706">
                  <a:moveTo>
                    <a:pt x="0" y="0"/>
                  </a:moveTo>
                  <a:lnTo>
                    <a:pt x="1967506" y="0"/>
                  </a:lnTo>
                  <a:lnTo>
                    <a:pt x="2170706" y="203200"/>
                  </a:lnTo>
                  <a:lnTo>
                    <a:pt x="196750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D7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38100"/>
              <a:ext cx="19167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94554" y="5811106"/>
            <a:ext cx="2690613" cy="503737"/>
            <a:chOff x="0" y="0"/>
            <a:chExt cx="2170706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0706" cy="406400"/>
            </a:xfrm>
            <a:custGeom>
              <a:avLst/>
              <a:gdLst/>
              <a:ahLst/>
              <a:cxnLst/>
              <a:rect r="r" b="b" t="t" l="l"/>
              <a:pathLst>
                <a:path h="406400" w="2170706">
                  <a:moveTo>
                    <a:pt x="0" y="0"/>
                  </a:moveTo>
                  <a:lnTo>
                    <a:pt x="1967506" y="0"/>
                  </a:lnTo>
                  <a:lnTo>
                    <a:pt x="2170706" y="203200"/>
                  </a:lnTo>
                  <a:lnTo>
                    <a:pt x="196750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CB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38100"/>
              <a:ext cx="19167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85167" y="5811106"/>
            <a:ext cx="2690613" cy="503737"/>
            <a:chOff x="0" y="0"/>
            <a:chExt cx="2170706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0706" cy="406400"/>
            </a:xfrm>
            <a:custGeom>
              <a:avLst/>
              <a:gdLst/>
              <a:ahLst/>
              <a:cxnLst/>
              <a:rect r="r" b="b" t="t" l="l"/>
              <a:pathLst>
                <a:path h="406400" w="2170706">
                  <a:moveTo>
                    <a:pt x="0" y="0"/>
                  </a:moveTo>
                  <a:lnTo>
                    <a:pt x="1967506" y="0"/>
                  </a:lnTo>
                  <a:lnTo>
                    <a:pt x="2170706" y="203200"/>
                  </a:lnTo>
                  <a:lnTo>
                    <a:pt x="196750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FF5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-38100"/>
              <a:ext cx="19167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75780" y="5811106"/>
            <a:ext cx="2690613" cy="503737"/>
            <a:chOff x="0" y="0"/>
            <a:chExt cx="2170706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0706" cy="406400"/>
            </a:xfrm>
            <a:custGeom>
              <a:avLst/>
              <a:gdLst/>
              <a:ahLst/>
              <a:cxnLst/>
              <a:rect r="r" b="b" t="t" l="l"/>
              <a:pathLst>
                <a:path h="406400" w="2170706">
                  <a:moveTo>
                    <a:pt x="0" y="0"/>
                  </a:moveTo>
                  <a:lnTo>
                    <a:pt x="1967506" y="0"/>
                  </a:lnTo>
                  <a:lnTo>
                    <a:pt x="2170706" y="203200"/>
                  </a:lnTo>
                  <a:lnTo>
                    <a:pt x="196750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9EFC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19167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34120" y="5811106"/>
            <a:ext cx="1232273" cy="503737"/>
            <a:chOff x="0" y="0"/>
            <a:chExt cx="433563" cy="1772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3563" cy="177235"/>
            </a:xfrm>
            <a:custGeom>
              <a:avLst/>
              <a:gdLst/>
              <a:ahLst/>
              <a:cxnLst/>
              <a:rect r="r" b="b" t="t" l="l"/>
              <a:pathLst>
                <a:path h="177235" w="433563">
                  <a:moveTo>
                    <a:pt x="0" y="0"/>
                  </a:moveTo>
                  <a:lnTo>
                    <a:pt x="433563" y="0"/>
                  </a:lnTo>
                  <a:lnTo>
                    <a:pt x="433563" y="177235"/>
                  </a:lnTo>
                  <a:lnTo>
                    <a:pt x="0" y="177235"/>
                  </a:lnTo>
                  <a:close/>
                </a:path>
              </a:pathLst>
            </a:custGeom>
            <a:solidFill>
              <a:srgbClr val="579EFC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3563" cy="215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321607" y="5896287"/>
            <a:ext cx="26346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39276" y="5896287"/>
            <a:ext cx="22199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20813" y="5896287"/>
            <a:ext cx="218319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24872" y="5896287"/>
            <a:ext cx="22176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50373" y="5896287"/>
            <a:ext cx="240181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5</a:t>
            </a:r>
          </a:p>
        </p:txBody>
      </p:sp>
      <p:sp>
        <p:nvSpPr>
          <p:cNvPr name="AutoShape 34" id="34"/>
          <p:cNvSpPr/>
          <p:nvPr/>
        </p:nvSpPr>
        <p:spPr>
          <a:xfrm>
            <a:off x="3638949" y="6314843"/>
            <a:ext cx="0" cy="66913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5" id="35"/>
          <p:cNvSpPr/>
          <p:nvPr/>
        </p:nvSpPr>
        <p:spPr>
          <a:xfrm>
            <a:off x="9239861" y="6314843"/>
            <a:ext cx="0" cy="66913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6" id="36"/>
          <p:cNvSpPr/>
          <p:nvPr/>
        </p:nvSpPr>
        <p:spPr>
          <a:xfrm>
            <a:off x="14651282" y="6314843"/>
            <a:ext cx="0" cy="66913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7" id="37"/>
          <p:cNvSpPr/>
          <p:nvPr/>
        </p:nvSpPr>
        <p:spPr>
          <a:xfrm>
            <a:off x="6549248" y="5141977"/>
            <a:ext cx="0" cy="66913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1933714" y="5141977"/>
            <a:ext cx="0" cy="66913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2357077" y="7142527"/>
            <a:ext cx="25637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계획 수립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25785" y="7142527"/>
            <a:ext cx="322815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실행 시작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69410" y="7142527"/>
            <a:ext cx="25637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완료 및 평가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67376" y="3957067"/>
            <a:ext cx="25637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준비 단계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04429" y="3957067"/>
            <a:ext cx="34585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중간 점검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92548" y="7539402"/>
            <a:ext cx="2492801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목표와 주요 일정,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자원을 체계적으로 정리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74261" y="7539402"/>
            <a:ext cx="293120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본격적인 작업을 시작하여 계획에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맞게 진행 상황을 점검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50373" y="7539402"/>
            <a:ext cx="2401818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프로젝트를 마무리하고</a:t>
            </a:r>
          </a:p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결과를 분석하여 향후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개선점을 도출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67376" y="4353942"/>
            <a:ext cx="2563743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필요한 자료와 인력을 확보하고, 세부 실행 계획을 구체화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98017" y="4353942"/>
            <a:ext cx="2871393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진행 과정을 검토하고, 문제점을</a:t>
            </a:r>
          </a:p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보완하여 방향을 조정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그래프가 있는 페이지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50511" y="2956446"/>
            <a:ext cx="6695555" cy="6305146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707228" y="3409634"/>
            <a:ext cx="7331494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그래프가 있는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페이지는 데이터를 시각적으로 표현하여 정보의 이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를 돕는 역할을 합니다. 숫자나 통계 자료를 차트, 막대그래프, 원형그래프 등으로 간결하게 보여주어 복잡한 내용을 한눈에 파악할 수 있게 해줍니다. 이 페이지는 객관적인 근거를 제시하거나 추세와 비교를 명확히 하고 싶을 때 효과적입니다. 그래프는 과도한 정보보다는 핵심 데이터에 집중하며, 색상과 레이아웃을 단순하게 유지해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가독성을 높이는 것이 중요합니다.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7228" y="7486650"/>
            <a:ext cx="7331494" cy="1204525"/>
            <a:chOff x="0" y="0"/>
            <a:chExt cx="1930929" cy="3172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0929" cy="317241"/>
            </a:xfrm>
            <a:custGeom>
              <a:avLst/>
              <a:gdLst/>
              <a:ahLst/>
              <a:cxnLst/>
              <a:rect r="r" b="b" t="t" l="l"/>
              <a:pathLst>
                <a:path h="317241" w="1930929">
                  <a:moveTo>
                    <a:pt x="21120" y="0"/>
                  </a:moveTo>
                  <a:lnTo>
                    <a:pt x="1909809" y="0"/>
                  </a:lnTo>
                  <a:cubicBezTo>
                    <a:pt x="1915410" y="0"/>
                    <a:pt x="1920782" y="2225"/>
                    <a:pt x="1924743" y="6186"/>
                  </a:cubicBezTo>
                  <a:cubicBezTo>
                    <a:pt x="1928704" y="10146"/>
                    <a:pt x="1930929" y="15518"/>
                    <a:pt x="1930929" y="21120"/>
                  </a:cubicBezTo>
                  <a:lnTo>
                    <a:pt x="1930929" y="296122"/>
                  </a:lnTo>
                  <a:cubicBezTo>
                    <a:pt x="1930929" y="307786"/>
                    <a:pt x="1921473" y="317241"/>
                    <a:pt x="1909809" y="317241"/>
                  </a:cubicBezTo>
                  <a:lnTo>
                    <a:pt x="21120" y="317241"/>
                  </a:lnTo>
                  <a:cubicBezTo>
                    <a:pt x="15518" y="317241"/>
                    <a:pt x="10146" y="315016"/>
                    <a:pt x="6186" y="311055"/>
                  </a:cubicBezTo>
                  <a:cubicBezTo>
                    <a:pt x="2225" y="307095"/>
                    <a:pt x="0" y="301723"/>
                    <a:pt x="0" y="296122"/>
                  </a:cubicBezTo>
                  <a:lnTo>
                    <a:pt x="0" y="21120"/>
                  </a:lnTo>
                  <a:cubicBezTo>
                    <a:pt x="0" y="9456"/>
                    <a:pt x="9456" y="0"/>
                    <a:pt x="21120" y="0"/>
                  </a:cubicBezTo>
                  <a:close/>
                </a:path>
              </a:pathLst>
            </a:custGeom>
            <a:solidFill>
              <a:srgbClr val="EAF3FF"/>
            </a:solidFill>
            <a:ln w="2857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30929" cy="355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07955" y="7759348"/>
            <a:ext cx="598155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그래프 페이지는 데이터를 시각화해 핵심 정보를 쉽게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36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이해할 수 있도록 돕는 역할을 합니다.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23062" y="7830619"/>
            <a:ext cx="538111" cy="516587"/>
          </a:xfrm>
          <a:custGeom>
            <a:avLst/>
            <a:gdLst/>
            <a:ahLst/>
            <a:cxnLst/>
            <a:rect r="r" b="b" t="t" l="l"/>
            <a:pathLst>
              <a:path h="516587" w="538111">
                <a:moveTo>
                  <a:pt x="0" y="0"/>
                </a:moveTo>
                <a:lnTo>
                  <a:pt x="538110" y="0"/>
                </a:lnTo>
                <a:lnTo>
                  <a:pt x="538110" y="516587"/>
                </a:lnTo>
                <a:lnTo>
                  <a:pt x="0" y="516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763307"/>
            <a:ext cx="16672477" cy="1928425"/>
            <a:chOff x="0" y="0"/>
            <a:chExt cx="4391105" cy="5078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507898"/>
            </a:xfrm>
            <a:custGeom>
              <a:avLst/>
              <a:gdLst/>
              <a:ahLst/>
              <a:cxnLst/>
              <a:rect r="r" b="b" t="t" l="l"/>
              <a:pathLst>
                <a:path h="50789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85350" y="166084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핵심정리 페이지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39778" y="3551407"/>
            <a:ext cx="13408444" cy="4439422"/>
            <a:chOff x="0" y="0"/>
            <a:chExt cx="3531442" cy="11692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31442" cy="1169230"/>
            </a:xfrm>
            <a:custGeom>
              <a:avLst/>
              <a:gdLst/>
              <a:ahLst/>
              <a:cxnLst/>
              <a:rect r="r" b="b" t="t" l="l"/>
              <a:pathLst>
                <a:path h="1169230" w="3531442">
                  <a:moveTo>
                    <a:pt x="15590" y="0"/>
                  </a:moveTo>
                  <a:lnTo>
                    <a:pt x="3515852" y="0"/>
                  </a:lnTo>
                  <a:cubicBezTo>
                    <a:pt x="3519987" y="0"/>
                    <a:pt x="3523952" y="1642"/>
                    <a:pt x="3526876" y="4566"/>
                  </a:cubicBezTo>
                  <a:cubicBezTo>
                    <a:pt x="3529800" y="7490"/>
                    <a:pt x="3531442" y="11455"/>
                    <a:pt x="3531442" y="15590"/>
                  </a:cubicBezTo>
                  <a:lnTo>
                    <a:pt x="3531442" y="1153641"/>
                  </a:lnTo>
                  <a:cubicBezTo>
                    <a:pt x="3531442" y="1157776"/>
                    <a:pt x="3529800" y="1161741"/>
                    <a:pt x="3526876" y="1164664"/>
                  </a:cubicBezTo>
                  <a:cubicBezTo>
                    <a:pt x="3523952" y="1167588"/>
                    <a:pt x="3519987" y="1169230"/>
                    <a:pt x="3515852" y="1169230"/>
                  </a:cubicBezTo>
                  <a:lnTo>
                    <a:pt x="15590" y="1169230"/>
                  </a:lnTo>
                  <a:cubicBezTo>
                    <a:pt x="11455" y="1169230"/>
                    <a:pt x="7490" y="1167588"/>
                    <a:pt x="4566" y="1164664"/>
                  </a:cubicBezTo>
                  <a:cubicBezTo>
                    <a:pt x="1642" y="1161741"/>
                    <a:pt x="0" y="1157776"/>
                    <a:pt x="0" y="1153641"/>
                  </a:cubicBezTo>
                  <a:lnTo>
                    <a:pt x="0" y="15590"/>
                  </a:lnTo>
                  <a:cubicBezTo>
                    <a:pt x="0" y="11455"/>
                    <a:pt x="1642" y="7490"/>
                    <a:pt x="4566" y="4566"/>
                  </a:cubicBezTo>
                  <a:cubicBezTo>
                    <a:pt x="7490" y="1642"/>
                    <a:pt x="11455" y="0"/>
                    <a:pt x="15590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31442" cy="1207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5350" y="4400788"/>
            <a:ext cx="851730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63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“주요 포인트를 명확하게 요약합니다.”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39080" y="5329158"/>
            <a:ext cx="12009839" cy="174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핵심정리</a:t>
            </a: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페이지는 프레젠테이션의 주요 내용을 간결하게 요약하여 청중이 중요한 메시지를 빠르게 이해할 수 있도록 돕는 역할을 합니다. 복잡한 정보를 핵심 키워드나 짧은 문장으로 정리해 기억에 오래 남게 하며,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전체 흐름을 한눈에 파악할 수 있게 합니다. 또한 다음 논의나 행동으로 자연스럽게 연결되도록</a:t>
            </a:r>
          </a:p>
          <a:p>
            <a:pPr algn="ctr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2199" spc="-65" strike="noStrike" u="none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마무리하는 데 효과적입니다.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85350" y="3917951"/>
            <a:ext cx="851730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1109" y="6372351"/>
            <a:ext cx="786578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+123-456-7890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hello@reallygreatsite.com</a:t>
            </a:r>
          </a:p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www.reallygreatsite.com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5350" y="7726171"/>
            <a:ext cx="85173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작성자 : 이수진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DAHELYcEp6c</dc:identifier>
  <dcterms:modified xsi:type="dcterms:W3CDTF">2011-08-01T06:04:30Z</dcterms:modified>
  <cp:revision>1</cp:revision>
  <dc:title>파란색 배경 현대적인 프로젝트 프레젠테이션</dc:title>
</cp:coreProperties>
</file>