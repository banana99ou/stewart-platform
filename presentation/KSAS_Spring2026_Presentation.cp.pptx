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Nanum Square" panose="020B0600000101010101" pitchFamily="34" charset="-127"/>
      <p:regular r:id="rId15"/>
    </p:embeddedFont>
    <p:embeddedFont>
      <p:font typeface="각진펜 Bold" panose="020B0500000000000000" pitchFamily="34" charset="-127"/>
      <p:regular r:id="rId16"/>
      <p:bold r:id="rId17"/>
    </p:embeddedFont>
    <p:embeddedFont>
      <p:font typeface="Gotham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1/13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FA6FE1C-B8ED-62CE-1408-C4534433390F}"/>
              </a:ext>
            </a:extLst>
          </p:cNvPr>
          <p:cNvSpPr txBox="1"/>
          <p:nvPr/>
        </p:nvSpPr>
        <p:spPr>
          <a:xfrm>
            <a:off x="-1600200" y="4229100"/>
            <a:ext cx="21564599" cy="1819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400"/>
              </a:lnSpc>
              <a:spcBef>
                <a:spcPct val="0"/>
              </a:spcBef>
            </a:pPr>
            <a:r>
              <a:rPr lang="en-US" sz="7200" b="1" spc="-220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Flight Attitude-Control Validation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7FDF4FB-CB5A-07BA-D1F0-20E5FD45A795}"/>
              </a:ext>
            </a:extLst>
          </p:cNvPr>
          <p:cNvSpPr txBox="1"/>
          <p:nvPr/>
        </p:nvSpPr>
        <p:spPr>
          <a:xfrm>
            <a:off x="2023900" y="3238500"/>
            <a:ext cx="14316398" cy="1410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5400" b="1" spc="-178" dirty="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Physically Closed-Loop HILS for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7F98408-9304-D17F-4DFC-73E7EABA8CB1}"/>
              </a:ext>
            </a:extLst>
          </p:cNvPr>
          <p:cNvSpPr txBox="1"/>
          <p:nvPr/>
        </p:nvSpPr>
        <p:spPr>
          <a:xfrm>
            <a:off x="4885350" y="6057900"/>
            <a:ext cx="8517301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spc="-44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Using a Stewart Platform with X-Plane and PX4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B315D-46EA-68EF-A4CE-641929023705}"/>
              </a:ext>
            </a:extLst>
          </p:cNvPr>
          <p:cNvSpPr txBox="1"/>
          <p:nvPr/>
        </p:nvSpPr>
        <p:spPr>
          <a:xfrm>
            <a:off x="4885350" y="7837735"/>
            <a:ext cx="8517301" cy="88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49" dirty="0" err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작성자</a:t>
            </a:r>
            <a:r>
              <a:rPr 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: </a:t>
            </a: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국민대 정현용 국민대 이수원</a:t>
            </a:r>
            <a:endParaRPr lang="en-US" altLang="ko-KR" sz="2499" b="1" spc="-4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발표자</a:t>
            </a:r>
            <a:r>
              <a:rPr lang="en-US" altLang="ko-KR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:</a:t>
            </a: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국민대 정현용</a:t>
            </a:r>
            <a:endParaRPr lang="en-US" sz="2499" b="1" spc="-4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Why Add Physical Motion to HILS?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166695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Nanum Square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AAD"/>
                </a:solidFill>
                <a:latin typeface="Nanum Square"/>
              </a:defRPr>
            </a:pPr>
            <a:r>
              <a:t>Conventional HILS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Simulator computes dynamics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시뮬레이터가 동역학 계산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Controller receives synthetic sensor signals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합성 센서 신호 수신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Attitude evaluated via logs / screens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로그/화면으로만 자세 확인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IMU does not experience real motion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IMU가 실제 관성 운동 미경험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31089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AAD"/>
                </a:solidFill>
                <a:latin typeface="Nanum Square"/>
              </a:defRPr>
            </a:pPr>
            <a:r>
              <a:t>This Work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Simulator drives real Stewart platform motion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실제 플랫폼 모션 구동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PX4 IMU senses real inertial excitation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PX4 IMU 실제 관성 자극 감지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Measured attitude fed back into loop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측정 자세 → 제어 루프 피드백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Timing and fidelity measured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타이밍·충실도 정량 측정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Fixed-wing first; concept extensible to other vehicles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    고정익 우선 실증; 원리적으로 다른 기체에도 확장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3291840"/>
            <a:ext cx="25400" cy="438912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물리적 피드백 포함 HILS 구조의 안정성, 반복성, 정량적 설명 가능성 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What Is New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Nanum Square"/>
              </a:defRPr>
            </a:pPr>
            <a:r>
              <a:t>PX4 추정기가 합성 신호가 아닌 실제 물리적 관성 운동에 반응 — 검증의 질이 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Nanum Square"/>
              </a:defRPr>
            </a:pPr>
            <a:r>
              <a:t>Realized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2D2D"/>
                </a:solidFill>
                <a:latin typeface="Nanum Square"/>
              </a:defRPr>
            </a:pPr>
            <a:r>
              <a:t>Simulator attitude is converted</a:t>
            </a:r>
            <a:br/>
            <a:r>
              <a:t>into Stewart-platform motion.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999999"/>
                </a:solidFill>
                <a:latin typeface="Nanum Square"/>
              </a:defRPr>
            </a:pPr>
            <a:r>
              <a:t>시뮬레이터 자세 → 플랫폼 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Nanum Square"/>
              </a:defRPr>
            </a:pPr>
            <a:r>
              <a:t>Physical Sensing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394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2D2D"/>
                </a:solidFill>
                <a:latin typeface="Nanum Square"/>
              </a:defRPr>
            </a:pPr>
            <a:r>
              <a:t>PX4 IMU and estimator respond</a:t>
            </a:r>
            <a:br/>
            <a:r>
              <a:t>to real inertial excitation.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999999"/>
                </a:solidFill>
                <a:latin typeface="Nanum Square"/>
              </a:defRPr>
            </a:pPr>
            <a:r>
              <a:t>PX4 IMU가 실제 관성 자극에 반응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Nanum Square"/>
              </a:defRPr>
            </a:pPr>
            <a:r>
              <a:t>Closed-Loop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5394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2D2D"/>
                </a:solidFill>
                <a:latin typeface="Nanum Square"/>
              </a:defRPr>
            </a:pPr>
            <a:r>
              <a:t>Measured attitude is sent back</a:t>
            </a:r>
            <a:br/>
            <a:r>
              <a:t>into the host control loop.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999999"/>
                </a:solidFill>
                <a:latin typeface="Nanum Square"/>
              </a:defRPr>
            </a:pPr>
            <a:r>
              <a:t>측정된 자세 → 호스트 제어 루프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7772400"/>
            <a:ext cx="13405104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07208" y="8138160"/>
            <a:ext cx="12673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Nanum Square"/>
              </a:defRPr>
            </a:pPr>
            <a:r>
              <a:t>구조적으로 특정 기체에 종속되지 않음 — 다른 기체로의 확장 실증은 향후 과제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666666"/>
                </a:solidFill>
                <a:latin typeface="Nanum Square"/>
              </a:defRPr>
            </a:pPr>
            <a:r>
              <a:t>보완적 검증 수단 — 전 영역 공력 재현이 아닌, 추정기 반응 중심의 물리적 검증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System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08960"/>
            <a:ext cx="7132320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1828800" rtlCol="0" anchor="ctr"/>
          <a:lstStyle/>
          <a:p>
            <a:pPr algn="ctr">
              <a:defRPr sz="2200" b="0">
                <a:solidFill>
                  <a:srgbClr val="666666"/>
                </a:solidFill>
                <a:latin typeface="Nanum Square"/>
              </a:defRPr>
            </a:pPr>
            <a:r>
              <a:t>[Insert hardware photo]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스튜어트 플랫폼 + PX4 탑재 사진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108960"/>
            <a:ext cx="7132320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1828800" rtlCol="0" anchor="ctr"/>
          <a:lstStyle/>
          <a:p>
            <a:pPr algn="ctr">
              <a:defRPr sz="2200" b="0">
                <a:solidFill>
                  <a:srgbClr val="666666"/>
                </a:solidFill>
                <a:latin typeface="Nanum Square"/>
              </a:defRPr>
            </a:pPr>
            <a:r>
              <a:t>[Insert demo video]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99999"/>
                </a:solidFill>
                <a:latin typeface="Nanum Square"/>
              </a:defRPr>
            </a:pPr>
            <a:r>
              <a:t>Trim transition 시나리오 구동 영상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X-Plane sim attitude → Stewart platform motion → PX4 IMU sensing → closed-loop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How the Physical Closed Loop Works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108960"/>
            <a:ext cx="6865668" cy="468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009933" y="3608302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anum Square"/>
              </a:defRPr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009933" y="5172473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anum Square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262339" y="6402954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anum Square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8140414" y="5172473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anum Square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0" y="31449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2D2D2D"/>
                </a:solidFill>
                <a:latin typeface="Nanum Square"/>
              </a:defRPr>
            </a:pPr>
            <a:r>
              <a:t>X-Plane publishes vehicle state</a:t>
            </a:r>
            <a:br/>
            <a:r>
              <a:t>to the Python host over UDP.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4297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0" y="43336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2D2D2D"/>
                </a:solidFill>
                <a:latin typeface="Nanum Square"/>
              </a:defRPr>
            </a:pPr>
            <a:r>
              <a:t>Host converts state to pose</a:t>
            </a:r>
            <a:br/>
            <a:r>
              <a:t>commands for the Stewart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5486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0" y="55224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2D2D2D"/>
                </a:solidFill>
                <a:latin typeface="Nanum Square"/>
              </a:defRPr>
            </a:pPr>
            <a:r>
              <a:t>PX4 physically senses platform</a:t>
            </a:r>
            <a:br/>
            <a:r>
              <a:t>motion through its onboard IMU.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75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4AAD"/>
                </a:solidFill>
                <a:latin typeface="Nanum Square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0" y="67111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2D2D2D"/>
                </a:solidFill>
                <a:latin typeface="Nanum Square"/>
              </a:defRPr>
            </a:pPr>
            <a:r>
              <a:t>PX4 attitude returns to host;</a:t>
            </a:r>
            <a:br/>
            <a:r>
              <a:t>host injects control into X-Plane.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8503920"/>
            <a:ext cx="1463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4AAD"/>
                </a:solidFill>
                <a:latin typeface="Nanum Square"/>
              </a:defRPr>
            </a:pPr>
            <a:r>
              <a:t>SW·기구부·센싱·제어 I/O를 하나로 잇는 물리적 폐루프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What We Tested and How We Measured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6858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AAD"/>
                </a:solidFill>
                <a:latin typeface="Nanum Square"/>
              </a:defRPr>
            </a:pPr>
            <a:r>
              <a:t>Baseline Scenario</a:t>
            </a:r>
          </a:p>
          <a:p>
            <a:pPr algn="l">
              <a:spcBef>
                <a:spcPts val="1800"/>
              </a:spcBef>
              <a:defRPr sz="2200" b="1">
                <a:solidFill>
                  <a:srgbClr val="2D2D2D"/>
                </a:solidFill>
                <a:latin typeface="Nanum Square"/>
              </a:defRPr>
            </a:pPr>
            <a:r>
              <a:t>Pitch trim transition:</a:t>
            </a:r>
          </a:p>
          <a:p>
            <a:pPr algn="l">
              <a:spcBef>
                <a:spcPts val="600"/>
              </a:spcBef>
              <a:defRPr sz="2600" b="1">
                <a:solidFill>
                  <a:srgbClr val="004AAD"/>
                </a:solidFill>
                <a:latin typeface="Nanum Square"/>
              </a:defRPr>
            </a:pPr>
            <a:r>
              <a:t>0° → +5° → hold → 0°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•  항상 동일 Honolulu (PHNL) 10nm 어프로치로 시작</a:t>
            </a:r>
          </a:p>
          <a:p>
            <a:pPr algn="l">
              <a:spcBef>
                <a:spcPts val="648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•  스크립트로 적용된 유예 기간 동안 시스템 안정화 후 데이터 수집</a:t>
            </a:r>
          </a:p>
          <a:p>
            <a:pPr algn="l">
              <a:spcBef>
                <a:spcPts val="648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•  Stewart 플랫폼의 포화 플래그(SAT) 감시; 작업 공간 내 유지</a:t>
            </a:r>
          </a:p>
          <a:p>
            <a:pPr algn="l">
              <a:spcBef>
                <a:spcPts val="648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•  조건별 9회 반복 실행으로 통계적 유의미성 확보</a:t>
            </a:r>
          </a:p>
          <a:p>
            <a:pPr algn="l">
              <a:spcBef>
                <a:spcPts val="648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•  z=+20 mm에서 중립자세 설정 (최대 회전)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6840" y="3291840"/>
            <a:ext cx="25400" cy="493776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0" y="3108960"/>
            <a:ext cx="6858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AAD"/>
                </a:solidFill>
                <a:latin typeface="Nanum Square"/>
              </a:defRPr>
            </a:pPr>
            <a:r>
              <a:t>Logged Signals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X-Plane attitude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PX4 자세 추정값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플랫폼 pose command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ACK timing + host timestamps</a:t>
            </a:r>
          </a:p>
          <a:p>
            <a:pPr algn="l">
              <a:spcBef>
                <a:spcPts val="1400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600"/>
              </a:spcBef>
              <a:defRPr sz="2400" b="1">
                <a:solidFill>
                  <a:srgbClr val="004AAD"/>
                </a:solidFill>
                <a:latin typeface="Nanum Square"/>
              </a:defRPr>
            </a:pPr>
            <a:r>
              <a:t>Extracted Metrics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Tracking error (raw)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Bias-corrected tracking error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Sample age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•  Serial RTT / end-to-end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기본 조건 우선 특성화: 지연·바이어스·장착 효과를 먼저 파악해야 향후 교란·포화 실험에서 원인 분리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Result 1: Closed-Loop Tracking Is Achieved</a:t>
            </a:r>
          </a:p>
        </p:txBody>
      </p:sp>
      <p:pic>
        <p:nvPicPr>
          <p:cNvPr id="5" name="Picture 4" descr="Fig2_Pitch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10515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Nanum Square"/>
              </a:defRPr>
            </a:pPr>
            <a:r>
              <a:rPr sz="2000" b="1">
                <a:solidFill>
                  <a:srgbClr val="2D2D2D"/>
                </a:solidFill>
                <a:latin typeface="Nanum Square"/>
              </a:rPr>
              <a:t>점선</a:t>
            </a:r>
            <a:r>
              <a:rPr sz="2000" b="0">
                <a:solidFill>
                  <a:srgbClr val="2D2D2D"/>
                </a:solidFill>
                <a:latin typeface="Nanum Square"/>
              </a:rPr>
              <a:t>: 스텝 입력. </a:t>
            </a:r>
            <a:r>
              <a:rPr sz="2000" b="1">
                <a:solidFill>
                  <a:srgbClr val="E67E22"/>
                </a:solidFill>
                <a:latin typeface="Nanum Square"/>
              </a:rPr>
              <a:t>주황선</a:t>
            </a:r>
            <a:r>
              <a:rPr sz="2000" b="0">
                <a:solidFill>
                  <a:srgbClr val="2D2D2D"/>
                </a:solidFill>
                <a:latin typeface="Nanum Square"/>
              </a:rPr>
              <a:t>: FC pitch.
</a:t>
            </a:r>
            <a:r>
              <a:rPr sz="2000" b="1">
                <a:solidFill>
                  <a:srgbClr val="4A90E2"/>
                </a:solidFill>
                <a:latin typeface="Nanum Square"/>
              </a:rPr>
              <a:t>파란 점선</a:t>
            </a:r>
            <a:r>
              <a:rPr sz="2000" b="0">
                <a:solidFill>
                  <a:srgbClr val="2D2D2D"/>
                </a:solidFill>
                <a:latin typeface="Nanum Square"/>
              </a:rPr>
              <a:t>: X-Plane pitch.
</a:t>
            </a:r>
            <a:r>
              <a:rPr sz="2000" b="1">
                <a:solidFill>
                  <a:srgbClr val="004AAD"/>
                </a:solidFill>
                <a:latin typeface="Nanum Square"/>
              </a:rPr>
              <a:t>파랑선</a:t>
            </a:r>
            <a:r>
              <a:rPr sz="2000" b="0">
                <a:solidFill>
                  <a:srgbClr val="2D2D2D"/>
                </a:solidFill>
                <a:latin typeface="Nanum Square"/>
              </a:rPr>
              <a:t>: +1.82° 보정된 X-Plane pitch이며 </a:t>
            </a:r>
            <a:r>
              <a:rPr sz="2000" b="1">
                <a:solidFill>
                  <a:srgbClr val="E67E22"/>
                </a:solidFill>
                <a:latin typeface="Nanum Square"/>
              </a:rPr>
              <a:t>FC pitch</a:t>
            </a:r>
            <a:r>
              <a:rPr sz="2000" b="0">
                <a:solidFill>
                  <a:srgbClr val="2D2D2D"/>
                </a:solidFill>
                <a:latin typeface="Nanum Square"/>
              </a:rPr>
              <a:t>와 거의 일치함</a:t>
            </a:r>
          </a:p>
          <a:p>
            <a:pPr algn="l">
              <a:spcBef>
                <a:spcPts val="1600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 sz="2000" b="0">
              <a:solidFill>
                <a:srgbClr val="2D2D2D"/>
              </a:solidFill>
              <a:latin typeface="Nanum Square"/>
            </a:endParaRPr>
          </a:p>
          <a:p>
            <a:pPr algn="l">
              <a:spcBef>
                <a:spcPts val="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PX4는 일관된 위상 지연을 보이며 스텝을 추종하는 결과를 보임.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99999"/>
                </a:solidFill>
                <a:latin typeface="Nanum Square"/>
              </a:defRPr>
            </a:pPr>
            <a:endParaRPr/>
          </a:p>
          <a:p>
            <a:pPr algn="l">
              <a:spcBef>
                <a:spcPts val="1600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잔여 오프셋은 설명 가능한 바이어스임. 실험을 반복해도 일관되게 관찰됨.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99999"/>
                </a:solidFill>
                <a:latin typeface="Nanum Square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플랫폼은 정량적 폐루프 검증이 가능할 정도로, 명령된 자세 전이를 충분히 정확하게 재현한다.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Result 2: Residual Error Is Interpretable</a:t>
            </a:r>
          </a:p>
        </p:txBody>
      </p:sp>
      <p:pic>
        <p:nvPicPr>
          <p:cNvPr id="5" name="Picture 4" descr="Fig3_Pitch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7315200" cy="3657600"/>
          </a:xfrm>
          <a:prstGeom prst="rect">
            <a:avLst/>
          </a:prstGeom>
        </p:spPr>
      </p:pic>
      <p:pic>
        <p:nvPicPr>
          <p:cNvPr id="6" name="Picture 5" descr="Fig4_MountingBias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108960"/>
            <a:ext cx="7315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949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Nanum Square"/>
              </a:defRPr>
            </a:pPr>
            <a:r>
              <a:t>바이어스 보정을 적용하면 오차 분포가 0에 더 가까워진다.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949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  <a:latin typeface="Nanum Square"/>
              </a:defRPr>
            </a:pPr>
            <a:r>
              <a:t>단단히 고정한 실험에서는 장착 바이어스와 일치하는 안정적인 오프셋이 관찰된다.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지배적인 잔여 오차는 무작위 불안정이 아니며, 고정 바이어스는 동적 추종 충실도와 분리해 해석해야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Result 3: Latency Sets the Fidelity Limit</a:t>
            </a:r>
          </a:p>
        </p:txBody>
      </p:sp>
      <p:pic>
        <p:nvPicPr>
          <p:cNvPr id="5" name="Picture 4" descr="Fig5a_Latenc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7772400" cy="3474720"/>
          </a:xfrm>
          <a:prstGeom prst="rect">
            <a:avLst/>
          </a:prstGeom>
        </p:spPr>
      </p:pic>
      <p:pic>
        <p:nvPicPr>
          <p:cNvPr id="6" name="Picture 5" descr="Fig5b_Latency_Distribution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108960"/>
            <a:ext cx="7772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858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AAD"/>
                </a:solidFill>
                <a:latin typeface="Nanum Square"/>
              </a:defRPr>
            </a:pPr>
            <a:r>
              <a:t>Serial RTT mean ≈ 22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858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AAD"/>
                </a:solidFill>
                <a:latin typeface="Nanum Square"/>
              </a:defRPr>
            </a:pPr>
            <a:r>
              <a:t>PX4 rx→ACK mean ≈ 41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6858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AAD"/>
                </a:solidFill>
                <a:latin typeface="Nanum Square"/>
              </a:defRPr>
            </a:pPr>
            <a:r>
              <a:t>X-Plane rx→ACK mean ≈ 51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측정된 지연과 지터가 위상 지연을 설명하며, 이 플랫폼의 실질적 대역폭을 정의한다.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AAD"/>
                </a:solidFill>
                <a:latin typeface="Nanum Square"/>
              </a:defRPr>
            </a:pPr>
            <a:r>
              <a:t>Key Results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1.  통합: X-Plane + Stewart + PX4를</a:t>
            </a:r>
            <a:br/>
            <a:r>
              <a:t>하나의 물리적 폐루프 구조로 통합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2.  충실도: 폐루프 자세 추종 달성 및 정량적 평가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3.  특성화: 플랫폼의 가능/불가능 범위를</a:t>
            </a:r>
            <a:br/>
            <a:r>
              <a:t>정량적으로 파악 — 향후 확장의 전제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6840" y="3200400"/>
            <a:ext cx="25400" cy="45720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0" y="31089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AAD"/>
                </a:solidFill>
                <a:latin typeface="Nanum Square"/>
              </a:defRPr>
            </a:pPr>
            <a:r>
              <a:t>Next Steps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→  시간 정렬후 오차 분석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→  반복성·히스테리시스 특성 분석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→  작동영역 및 포화 한계 부근 스트레스 테스트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2D2D2D"/>
                </a:solidFill>
                <a:latin typeface="Nanum Square"/>
              </a:defRPr>
            </a:pPr>
            <a:r>
              <a:t>→  멀티로터 등 다른 기체로 확장하여 아키텍처 범용성 실증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8046720"/>
            <a:ext cx="13405104" cy="10972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07208" y="8412480"/>
            <a:ext cx="1267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Nanum Square"/>
              </a:defRPr>
            </a:pPr>
            <a:r>
              <a:t>플랫폼 성능을 정량적으로 특성화하여, SW HILS와 실비행 시험 사이를 잇는 검증 수단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11/13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60A5C-429E-81DB-2A34-8582C30A9723}"/>
              </a:ext>
            </a:extLst>
          </p:cNvPr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 dirty="0" err="1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  <a:endParaRPr lang="en-US" sz="8000" b="1" spc="-160" dirty="0">
              <a:solidFill>
                <a:srgbClr val="004AA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9C289-6AF1-076D-21D6-F368E464C780}"/>
              </a:ext>
            </a:extLst>
          </p:cNvPr>
          <p:cNvSpPr txBox="1"/>
          <p:nvPr/>
        </p:nvSpPr>
        <p:spPr>
          <a:xfrm>
            <a:off x="5211109" y="6372351"/>
            <a:ext cx="7865781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+010-5248-3750</a:t>
            </a:r>
          </a:p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Banana99ou@Kookmin.ac.kr</a:t>
            </a:r>
          </a:p>
          <a:p>
            <a:pPr lvl="0"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fmcl</a:t>
            </a:r>
            <a:r>
              <a:rPr lang="en-US" sz="22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.kookmin.ac</a:t>
            </a:r>
            <a:r>
              <a:rPr lang="en-US" sz="220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  <a:r>
              <a:rPr lang="en-US" sz="22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kr</a:t>
            </a:r>
            <a:endParaRPr lang="en-US" sz="22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DB762-B5FA-0A91-0C9A-2FEE1F795FA7}"/>
              </a:ext>
            </a:extLst>
          </p:cNvPr>
          <p:cNvSpPr txBox="1"/>
          <p:nvPr/>
        </p:nvSpPr>
        <p:spPr>
          <a:xfrm>
            <a:off x="4885350" y="7726171"/>
            <a:ext cx="8517301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  <a:r>
              <a:rPr lang="en-US" sz="2499" b="1" spc="-49" dirty="0" err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자</a:t>
            </a:r>
            <a:r>
              <a:rPr 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: </a:t>
            </a: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정현용</a:t>
            </a:r>
            <a:endParaRPr lang="en-US" sz="2499" b="1" spc="-4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Q&amp;A</a:t>
            </a:r>
          </a:p>
        </p:txBody>
      </p:sp>
      <p:pic>
        <p:nvPicPr>
          <p:cNvPr id="5" name="Picture 4" descr="rot_worst_vs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108960"/>
            <a:ext cx="914400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0" y="3291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AAD"/>
                </a:solidFill>
                <a:latin typeface="Nanum Square"/>
              </a:defRPr>
            </a:pPr>
            <a:r>
              <a:t>z = +20 mm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2D2D2D"/>
                </a:solidFill>
                <a:latin typeface="Nanum Square"/>
              </a:defRPr>
            </a:pPr>
            <a:r>
              <a:t>→ ~20° rotation range</a:t>
            </a:r>
          </a:p>
          <a:p>
            <a:pPr algn="l">
              <a:spcBef>
                <a:spcPts val="1600"/>
              </a:spcBef>
              <a:defRPr sz="1800" b="0">
                <a:solidFill>
                  <a:srgbClr val="2D2D2D"/>
                </a:solidFill>
                <a:latin typeface="Nanum Square"/>
              </a:defRPr>
            </a:pPr>
            <a:r>
              <a:t>Sufficient for ±5° trim test</a:t>
            </a:r>
            <a:br/>
            <a:r>
              <a:t>with large margin.</a:t>
            </a:r>
          </a:p>
          <a:p>
            <a:pPr algn="l">
              <a:spcBef>
                <a:spcPts val="2400"/>
              </a:spcBef>
              <a:defRPr sz="800" b="0">
                <a:solidFill>
                  <a:srgbClr val="2D2D2D"/>
                </a:solidFill>
                <a:latin typeface="Nanum Square"/>
              </a:defRPr>
            </a:pPr>
            <a:endParaRPr/>
          </a:p>
          <a:p>
            <a:pPr algn="l">
              <a:spcBef>
                <a:spcPts val="800"/>
              </a:spcBef>
              <a:defRPr sz="2800" b="1">
                <a:solidFill>
                  <a:srgbClr val="C0392B"/>
                </a:solidFill>
                <a:latin typeface="Nanum Square"/>
              </a:defRPr>
            </a:pPr>
            <a:r>
              <a:t>z = 0 mm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2D2D2D"/>
                </a:solidFill>
                <a:latin typeface="Nanum Square"/>
              </a:defRPr>
            </a:pPr>
            <a:r>
              <a:t>→ ~10° rotation range</a:t>
            </a:r>
          </a:p>
          <a:p>
            <a:pPr algn="l">
              <a:spcBef>
                <a:spcPts val="1600"/>
              </a:spcBef>
              <a:defRPr sz="1800" b="0">
                <a:solidFill>
                  <a:srgbClr val="666666"/>
                </a:solidFill>
                <a:latin typeface="Nanum Square"/>
              </a:defRPr>
            </a:pPr>
            <a:r>
              <a:t>Insufficient for ±5°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" y="758952"/>
            <a:ext cx="16669512" cy="8631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758952"/>
            <a:ext cx="16669512" cy="192938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82896" y="1371600"/>
            <a:ext cx="8513064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Nanum Square"/>
              </a:defRPr>
            </a:pPr>
            <a:r>
              <a:t>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01752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Why not conventional HILS?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94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Real inertial excitation that sensor</a:t>
            </a:r>
            <a:br/>
            <a:r>
              <a:t>synthesis cannot provide. → Sl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301752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32004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How do you handle saturation?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794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Baseline ±5° out of ~20° available.</a:t>
            </a:r>
            <a:br/>
            <a:r>
              <a:t>Stress tests planned. → Sl 6+10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01752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0" y="32004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Effective bandwidth?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94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~50 Hz tick, E2E latency ~51 ms.</a:t>
            </a:r>
            <a:br/>
            <a:r>
              <a:t>Low-freq maneuvers suited. → Sl 5+9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95960" y="301752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624560" y="32004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Open-loop platform — pose accuracy?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0" y="3794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Hobby servos, no encoder. Inclinometer:</a:t>
            </a:r>
            <a:br/>
            <a:r>
              <a:t>~2.1° roll, ~1.5° pitch. → Sl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66928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8521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What is mounting bias?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6446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~1.8° from FC alignment. Stable</a:t>
            </a:r>
            <a:br/>
            <a:r>
              <a:t>(σ ≈ 0.2°), calibrated out. → Sl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566928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58521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How repeatable across runs?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6446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5 runs: σ ≈ 0.2° intra, Δ ≤ 0.8° inter.</a:t>
            </a:r>
            <a:br/>
            <a:r>
              <a:t>→ Sl 8+10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566928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58521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What about yaw?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446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In the loop, but trim scenario</a:t>
            </a:r>
            <a:br/>
            <a:r>
              <a:t>excites pitch primarily. → Sl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95960" y="566928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624560" y="58521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AAD"/>
                </a:solidFill>
                <a:latin typeface="Nanum Square"/>
              </a:defRPr>
            </a:pPr>
            <a:r>
              <a:t>Extend to quadrotors?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0" y="6446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D2D2D"/>
                </a:solidFill>
                <a:latin typeface="Nanum Square"/>
              </a:defRPr>
            </a:pPr>
            <a:r>
              <a:t>Architecture extensible in principle.</a:t>
            </a:r>
            <a:br/>
            <a:r>
              <a:t>Model + PID change. Future work. → Sl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0" y="9646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Nanum Square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1042</Words>
  <Application>Microsoft Macintosh PowerPoint</Application>
  <PresentationFormat>Custom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Gotham</vt:lpstr>
      <vt:lpstr>각진펜 Bold</vt:lpstr>
      <vt:lpstr>Arial</vt:lpstr>
      <vt:lpstr>Calibri</vt:lpstr>
      <vt:lpstr>Nanum Square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배경 현대적인 프로젝트 프레젠테이션</dc:title>
  <cp:lastModifiedBy>현용 정</cp:lastModifiedBy>
  <cp:revision>2</cp:revision>
  <dcterms:created xsi:type="dcterms:W3CDTF">2006-08-16T00:00:00Z</dcterms:created>
  <dcterms:modified xsi:type="dcterms:W3CDTF">2026-03-20T07:26:33Z</dcterms:modified>
  <dc:identifier>DAHELYcEp6c</dc:identifier>
</cp:coreProperties>
</file>